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54360F-9F6B-456F-890D-159E178E096A}">
  <a:tblStyle styleId="{5B54360F-9F6B-456F-890D-159E178E096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Capa — Mapa inicial da missão. Apresentar a turma 1TSCOA, o grupo Ômega Urban Tech e os 5 integrantes em ordem alfabética com RM. Projeto: MedFlow, para o Oracle Enterprise Challenge, Sprint 1, entrega 16/06/2026.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Nome da solução. MedFlow — Saúde que flui, tecnologia que transforma. Subtítulo: Painel Inteligente de Acesso Hospitalar e Perfil de Atendimento. Solução baseada 100% em dados públicos do DATASUS.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Contextualização. O problema não é falta de dados — é falta de visibilidade. 5,21 milhões de internações e 669 hospitais já existem no DATASUS, 100% públicos. O IPH médio estadual de 0,44 esconde municípios a 93,9%. IPH = taxa de ocupação real de leitos SUS.</a:t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Problema. Persona primária: Secretário(a) de Saúde. Frase-gatilho: não sabe quais municípios estão no limite até alguém ligar pedindo ajuda. Quatro dores: sem contexto histórico, sem benchmark, dependência de SQL e sazonalidade invisível.</a:t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Público-alvo. Persona principal: Secretário(a) de Saúde (visão da rede, ranking de municípios, sem SQL). Secundários: Gestor de Hospital (meu hospital vs pares), equipes de planejamento/vigilância, analista de saúde pública. Beneficiário final: população do SUS.</a:t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Proposta. O MedFlow não cria dados novos — torna visível o que já existe no DATASUS, sem SQL. Quatro diferenciais: inteligência histórica, benchmarking externo, ciclo mensal e Select AI no Sprint 2. Diferencial: único painel sobre dados oficiais com recorte focado em SP.</a:t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Como o MedFlow resolve. Storytelling em 4 camadas (número atual, contexto, padrão histórico, significado) com dado real do CNES 2097648 (IPH médio 1,01, 12/23 meses acima de 0,85). Sem Machine Learning — com memória, não previsão.</a:t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5 índices. Cada um responde uma pergunta de gestão com dado real SP 2022-2023: IPH (pressão), IPR (permanência relativa), IS (sazonalidade), TMH (mortalidade — Clínica 12,73% vs UTI 4,44%), CMI (custo). TMH da Clínica 2,4x a da UTI indica pressão estrutural.</a:t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Benefícios para a secretaria. 93,9% (Franco da Rocha) contexto histórico; 669 hospitais comparáveis benchmark; 7,8% hospital-meses críticos pressão monitorada; 12/23 meses críticos autonomia sem SQL. Sobre hospedagem: na Sprint 1 (ideação/arquitetura) não é exigido detalhar deploy; a arquitetura já indica Oracle Autonomous DB (OCI) + Power BI. A publicação como aplicação/link público é entregável da Sprint 2 — mencionar como evolução, sem se comprometer com infraestrutura específica agora.</a:t>
            </a:r>
            <a:endParaRPr/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Arquitetura em 4 camadas. As 3 fontes do challenge Oracle: SIH/SUS relacional, CNES JSON, IBGE CSV External Table. Ingestão/ETL em Python/pysus. Armazenamento no Oracle Autonomous DB convergente + Select AI no Sprint 2. Consumo via Power BI sem SQL.</a:t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Tecnologias. Sprint 1 implementado: Oracle Autonomous DB, Database Actions/SQL, Python (pandas), DATASUS/CNES, Power BI, GitHub+Scrum. Sprint 2: Oracle Select AI (NLP→SQL em português) e pipeline mensal automático — principal diferencial.</a:t>
            </a:r>
            <a:endParaRPr/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Protótipos. Mockup preliminar do painel: KPIs no topo, ranking de pressão por região, mapa de pressão assistencial, filtros por período, navegação sem SQL. Construído com dados reais do SIH/SUS para SP — refinamento na Sprint 2.</a:t>
            </a:r>
            <a:endParaRPr/>
          </a:p>
        </p:txBody>
      </p:sp>
      <p:sp>
        <p:nvSpPr>
          <p:cNvPr id="353" name="Google Shape;3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Gerenciamento ágil (Scrum + Kanban). Concluído: pipelines SIH/CNES, 5 índices, análise exploratória, arquitetura. Em andamento: protótipos, ETL automático, README. A fazer (Sprint 2): dashboard publicado, Select AI, benchmark IPR, vídeo pitch. Citar papéis da equipe.</a:t>
            </a:r>
            <a:endParaRPr/>
          </a:p>
        </p:txBody>
      </p:sp>
      <p:sp>
        <p:nvSpPr>
          <p:cNvPr id="368" name="Google Shape;36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Encerramento. Slogan: Saúde que flui, tecnologia que transforma. Agradecer Oracle, FIAP, tutor e Scrum Master. Reforçar: 100% dados públicos, 5,21 milhões de internações processadas. Abrir para perguntas.</a:t>
            </a:r>
            <a:endParaRPr/>
          </a:p>
        </p:txBody>
      </p:sp>
      <p:sp>
        <p:nvSpPr>
          <p:cNvPr id="381" name="Google Shape;3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39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image" Target="../media/image37.png"/><Relationship Id="rId7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34.png"/><Relationship Id="rId6" Type="http://schemas.openxmlformats.org/officeDocument/2006/relationships/image" Target="../media/image50.png"/><Relationship Id="rId7" Type="http://schemas.openxmlformats.org/officeDocument/2006/relationships/image" Target="../media/image16.png"/><Relationship Id="rId8" Type="http://schemas.openxmlformats.org/officeDocument/2006/relationships/image" Target="../media/image5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Relationship Id="rId8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Relationship Id="rId5" Type="http://schemas.openxmlformats.org/officeDocument/2006/relationships/image" Target="../media/image9.png"/><Relationship Id="rId6" Type="http://schemas.openxmlformats.org/officeDocument/2006/relationships/image" Target="../media/image60.png"/><Relationship Id="rId7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38.png"/><Relationship Id="rId5" Type="http://schemas.openxmlformats.org/officeDocument/2006/relationships/image" Target="../media/image47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48.png"/><Relationship Id="rId10" Type="http://schemas.openxmlformats.org/officeDocument/2006/relationships/image" Target="../media/image52.png"/><Relationship Id="rId9" Type="http://schemas.openxmlformats.org/officeDocument/2006/relationships/image" Target="../media/image41.png"/><Relationship Id="rId5" Type="http://schemas.openxmlformats.org/officeDocument/2006/relationships/image" Target="../media/image54.png"/><Relationship Id="rId6" Type="http://schemas.openxmlformats.org/officeDocument/2006/relationships/image" Target="../media/image45.png"/><Relationship Id="rId7" Type="http://schemas.openxmlformats.org/officeDocument/2006/relationships/image" Target="../media/image53.png"/><Relationship Id="rId8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5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5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_white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51206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170432" y="0"/>
            <a:ext cx="10607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MAPA INICIAL DA MISSÃO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48640" y="107899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: 1ª ENTREGA — Equipe e componentes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691640" y="1828800"/>
            <a:ext cx="87782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691640" y="1828800"/>
            <a:ext cx="8778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TURMA 1TSCOA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691640" y="2743200"/>
            <a:ext cx="877824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691640" y="2852928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NOME DO GRUPO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691640" y="310896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A2948"/>
                </a:solidFill>
                <a:latin typeface="Arial"/>
                <a:ea typeface="Arial"/>
                <a:cs typeface="Arial"/>
                <a:sym typeface="Arial"/>
              </a:rPr>
              <a:t>Ômega Urban Tech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" name="Google Shape;26;p3"/>
          <p:cNvGraphicFramePr/>
          <p:nvPr/>
        </p:nvGraphicFramePr>
        <p:xfrm>
          <a:off x="1691640" y="3931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{5B54360F-9F6B-456F-890D-159E178E096A}</a:tableStyleId>
              </a:tblPr>
              <a:tblGrid>
                <a:gridCol w="6583675"/>
                <a:gridCol w="21945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COMPONENTES (ordem alfabética)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RM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6CB0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D3748"/>
                          </a:solidFill>
                        </a:rPr>
                        <a:t>   Carol Oliveira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D3748"/>
                          </a:solidFill>
                        </a:rPr>
                        <a:t>571872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D3748"/>
                          </a:solidFill>
                        </a:rPr>
                        <a:t>   Leandro Lopes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D3748"/>
                          </a:solidFill>
                        </a:rPr>
                        <a:t>569353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D3748"/>
                          </a:solidFill>
                        </a:rPr>
                        <a:t>   Leandro Scutari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D3748"/>
                          </a:solidFill>
                        </a:rPr>
                        <a:t>568671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D3748"/>
                          </a:solidFill>
                        </a:rPr>
                        <a:t>   Lucas Lima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D3748"/>
                          </a:solidFill>
                        </a:rPr>
                        <a:t>572207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D3748"/>
                          </a:solidFill>
                        </a:rPr>
                        <a:t>   Pedro Padovan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D3748"/>
                          </a:solidFill>
                        </a:rPr>
                        <a:t>568683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Google Shape;27;p3"/>
          <p:cNvSpPr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MedFlow  |  Painel Inteligente de Acesso Hospitalar — DATASUS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_white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51206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1170432" y="0"/>
            <a:ext cx="10607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NOME DA SOLUÇÃO / PROJETO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48640" y="107899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: 1ª ENTREGA — Identidade do projeto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full.png"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4488" y="1874520"/>
            <a:ext cx="4389120" cy="340156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2286000" y="5440680"/>
            <a:ext cx="7616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Painel Inteligente de Acesso Hospitalar e Perfil de Atendimento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MedFlow  |  Painel Inteligente de Acesso Hospitalar — DATASUS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_white.png"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51206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/>
          <p:nvPr/>
        </p:nvSpPr>
        <p:spPr>
          <a:xfrm>
            <a:off x="1170432" y="0"/>
            <a:ext cx="10607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CONTEXTUALIZAÇÃO DO PROBLEMA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548640" y="107899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: 2ª ENTREGA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cenário do desafio Oracle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1874520"/>
            <a:ext cx="6035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1" i="0" lang="en-US" sz="1400" u="none" cap="none" strike="noStrike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Sistema Único de Saúde (SUS)</a:t>
            </a: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gera diariamente um volume massivo de dados sobre internações, leitos e atendimentos. Esses dados são </a:t>
            </a:r>
            <a:r>
              <a:rPr b="1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públicos e abertos</a:t>
            </a: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(DATASUS / Ministério da Saúde), mas continuam </a:t>
            </a:r>
            <a:r>
              <a:rPr b="1" i="0" lang="en-US" sz="1400" u="none" cap="none" strike="noStrike">
                <a:solidFill>
                  <a:srgbClr val="37AB94"/>
                </a:solidFill>
                <a:latin typeface="Calibri"/>
                <a:ea typeface="Calibri"/>
                <a:cs typeface="Calibri"/>
                <a:sym typeface="Calibri"/>
              </a:rPr>
              <a:t>sub-utilizados</a:t>
            </a: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pela gestão pública.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8640" y="3291840"/>
            <a:ext cx="6035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Na média estadual o IPH parece controlado (</a:t>
            </a:r>
            <a:r>
              <a:rPr b="1" i="0" lang="en-US" sz="14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44%</a:t>
            </a: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) mas essa média </a:t>
            </a:r>
            <a:r>
              <a:rPr b="1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esconde municípios a 93,9% de ocupação</a:t>
            </a: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. O gestor que olha só a média está navegando no escuro: a resposta de </a:t>
            </a:r>
            <a:r>
              <a:rPr b="0" i="1" lang="en-US" sz="14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"qual região está sobrecarregada?"</a:t>
            </a: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ainda depende de extração técnica manual e a decisão chega tarde.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4892040"/>
            <a:ext cx="6035040" cy="566928"/>
          </a:xfrm>
          <a:prstGeom prst="roundRect">
            <a:avLst>
              <a:gd fmla="val 9677" name="adj"/>
            </a:avLst>
          </a:prstGeom>
          <a:solidFill>
            <a:srgbClr val="EAF2FB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731520" y="4892040"/>
            <a:ext cx="5715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IPH  </a:t>
            </a:r>
            <a:r>
              <a:rPr b="1" i="0" lang="en-US" sz="11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mede o % de ocupação real dos leitos SUS</a:t>
            </a:r>
            <a:r>
              <a:rPr b="0" i="1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  ·  patient-days / (leitos × dias)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812280" y="1783080"/>
            <a:ext cx="4846320" cy="1078992"/>
          </a:xfrm>
          <a:prstGeom prst="roundRect">
            <a:avLst>
              <a:gd fmla="val 6780" name="adj"/>
            </a:avLst>
          </a:prstGeom>
          <a:solidFill>
            <a:srgbClr val="EAF2FB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hospital_blue.png" id="56" name="Google Shape;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0880" y="2039112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7772400" y="189280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5,21 mi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7772400" y="2313432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internações SUS processadas em SP Jan/2022 a Dez/2023, segundo o SIH/SUS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812280" y="2990088"/>
            <a:ext cx="4846320" cy="1078992"/>
          </a:xfrm>
          <a:prstGeom prst="roundRect">
            <a:avLst>
              <a:gd fmla="val 6780" name="adj"/>
            </a:avLst>
          </a:prstGeom>
          <a:solidFill>
            <a:srgbClr val="EAF2FB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clock_teal.png" id="60" name="Google Shape;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0880" y="324612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7772400" y="309981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669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772400" y="352044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hospitais únicos e 331 municípios mapeados na rede estadual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812280" y="4197096"/>
            <a:ext cx="4846320" cy="1078992"/>
          </a:xfrm>
          <a:prstGeom prst="roundRect">
            <a:avLst>
              <a:gd fmla="val 6780" name="adj"/>
            </a:avLst>
          </a:prstGeom>
          <a:solidFill>
            <a:srgbClr val="EAF2FB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db_navy.png" id="64" name="Google Shape;6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0880" y="4453128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7772400" y="4306824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772400" y="4727448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dos dados-fonte são públicos e abertos, porém dispersos em formatos diferentes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619963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Fonte: SIH/SUS + CNES · DATASUS / Ministério da Saúde · São Paulo, Jan/2022–Dez/2023 · 5.210.357 internações · IPH = patient-days / (leitos SUS × dias).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MedFlow  |  Painel Inteligente de Acesso Hospitalar — DATASUS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_white.png"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51206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/>
          <p:nvPr/>
        </p:nvSpPr>
        <p:spPr>
          <a:xfrm>
            <a:off x="1170432" y="0"/>
            <a:ext cx="10607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 A SER RESOLVIDO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548640" y="107899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: 3ª ENTREGA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 dor da gestão de saúde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40" y="1783080"/>
            <a:ext cx="11091672" cy="914400"/>
          </a:xfrm>
          <a:prstGeom prst="roundRect">
            <a:avLst>
              <a:gd fmla="val 8000" name="adj"/>
            </a:avLst>
          </a:prstGeom>
          <a:solidFill>
            <a:srgbClr val="1A29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usertie_teal.png" id="80" name="Google Shape;8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199339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6"/>
          <p:cNvSpPr/>
          <p:nvPr/>
        </p:nvSpPr>
        <p:spPr>
          <a:xfrm>
            <a:off x="1463040" y="1783080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"O Secretário não sabe quais municípios do território estão no </a:t>
            </a:r>
            <a:r>
              <a:rPr b="1" i="0" lang="en-US" sz="1400" u="none" cap="none" strike="noStrike">
                <a:solidFill>
                  <a:srgbClr val="37AB94"/>
                </a:solidFill>
                <a:latin typeface="Calibri"/>
                <a:ea typeface="Calibri"/>
                <a:cs typeface="Calibri"/>
                <a:sym typeface="Calibri"/>
              </a:rPr>
              <a:t>limite de capacidade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até que alguém ligue pedindo ajuda."</a:t>
            </a:r>
            <a:r>
              <a:rPr b="0" i="1" lang="en-US" sz="1050" u="none" cap="none" strike="noStrike">
                <a:solidFill>
                  <a:srgbClr val="9DB0C8"/>
                </a:solidFill>
                <a:latin typeface="Calibri"/>
                <a:ea typeface="Calibri"/>
                <a:cs typeface="Calibri"/>
                <a:sym typeface="Calibri"/>
              </a:rPr>
              <a:t>    Síntese da dor da persona primária: Secretário(a) de Saúde Municipal / Estadual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48640" y="29260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O problema central  4 dores do gestor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48640" y="3337560"/>
            <a:ext cx="26974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search_blue.png" id="84" name="Google Shape;8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361188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685800" y="4572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Sem contexto histórico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31520" y="49377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Não sabe se a pressão atual é normal para a época do ano no território.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364992" y="3337560"/>
            <a:ext cx="26974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chartline_teal.png" id="88" name="Google Shape;8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2252" y="361188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/>
          <p:nvPr/>
        </p:nvSpPr>
        <p:spPr>
          <a:xfrm>
            <a:off x="3502152" y="4572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Sem benchmark externo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547872" y="49377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Nenhum sistema mostra como cada município está vs. pares de mesmo porte.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181344" y="3337560"/>
            <a:ext cx="26974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sitemap_blue.png" id="92" name="Google Shape;9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8604" y="361188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6318504" y="4572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Dependência de SQL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364224" y="49377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Cada pergunta crítica depende de analista técnico. A resposta chega dias depois.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997696" y="3337560"/>
            <a:ext cx="26974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compass_teal.png" id="96" name="Google Shape;9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34956" y="361188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9134856" y="4572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Sazonalidade invisível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9180576" y="49377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Padrões que se repetem todo ano ficam ocultos sem histórico estruturado.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48640" y="619963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Caso real: Franco da Rocha operou a 93,9% de ocupação por 2 anos — invisível até o MedFlow processar os dados (SIH/SUS · CNES · DATASUS · SP 2022–2023). Nota: não há fonte pública única que consolide a ocupação de leitos por município em tempo hábil — é justamente essa lacuna que o MedFlow endereça.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MedFlow  |  Painel Inteligente de Acesso Hospitalar — DATASUS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_white.png" id="107" name="Google Shape;1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51206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1170432" y="0"/>
            <a:ext cx="10607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PÚBLICO-ALVO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48640" y="107899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: 4ª ENTREGA — Para quem construímos o MedFlow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48640" y="1783080"/>
            <a:ext cx="4800600" cy="3977640"/>
          </a:xfrm>
          <a:prstGeom prst="roundRect">
            <a:avLst>
              <a:gd fmla="val 2299" name="adj"/>
            </a:avLst>
          </a:prstGeom>
          <a:solidFill>
            <a:srgbClr val="1A2948"/>
          </a:solidFill>
          <a:ln>
            <a:noFill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usertie_teal.png" id="112" name="Google Shape;1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10312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1920240" y="21488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AB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7AB94"/>
                </a:solidFill>
                <a:latin typeface="Calibri"/>
                <a:ea typeface="Calibri"/>
                <a:cs typeface="Calibri"/>
                <a:sym typeface="Calibri"/>
              </a:rPr>
              <a:t>PERSONA PRINCIPAL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920240" y="2395728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Secretário(a) de Saúde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868680" y="32461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5E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7D5E6"/>
                </a:solidFill>
                <a:latin typeface="Calibri"/>
                <a:ea typeface="Calibri"/>
                <a:cs typeface="Calibri"/>
                <a:sym typeface="Calibri"/>
              </a:rPr>
              <a:t>Necessidades: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914400" y="3547872"/>
            <a:ext cx="42062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3EAF4"/>
                </a:solidFill>
                <a:latin typeface="Calibri"/>
                <a:ea typeface="Calibri"/>
                <a:cs typeface="Calibri"/>
                <a:sym typeface="Calibri"/>
              </a:rPr>
              <a:t>Visão da rede inteira do território  mapa de pressão regional e ranking de municípios.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E3EAF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3EAF4"/>
                </a:solidFill>
                <a:latin typeface="Calibri"/>
                <a:ea typeface="Calibri"/>
                <a:cs typeface="Calibri"/>
                <a:sym typeface="Calibri"/>
              </a:rPr>
              <a:t>Responder perguntas críticas de saúde sem depender de analista técnico.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E3EAF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3EAF4"/>
                </a:solidFill>
                <a:latin typeface="Calibri"/>
                <a:ea typeface="Calibri"/>
                <a:cs typeface="Calibri"/>
                <a:sym typeface="Calibri"/>
              </a:rPr>
              <a:t>Identificar regiões críticas e priorizar leitos, recursos e ações onde a pressão é maior.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E3EAF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3EAF4"/>
                </a:solidFill>
                <a:latin typeface="Calibri"/>
                <a:ea typeface="Calibri"/>
                <a:cs typeface="Calibri"/>
                <a:sym typeface="Calibri"/>
              </a:rPr>
              <a:t>Autonomia analítica com confiança nos dados oficiais do DATASUS.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623560" y="178308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Stakeholders secundários (beneficiados)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623560" y="2194560"/>
            <a:ext cx="6016752" cy="1097280"/>
          </a:xfrm>
          <a:prstGeom prst="roundRect">
            <a:avLst>
              <a:gd fmla="val 6667" name="adj"/>
            </a:avLst>
          </a:prstGeom>
          <a:solidFill>
            <a:srgbClr val="EAF2FB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hospital2_blue.png" id="119" name="Google Shape;11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2160" y="24231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6720840" y="2340864"/>
            <a:ext cx="4690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Gestor(a) de Hospital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720840" y="2615184"/>
            <a:ext cx="4690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Vê "meu hospital vs. pares regionais": ocupação, permanência e benchmark.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623560" y="3401568"/>
            <a:ext cx="6016752" cy="1097280"/>
          </a:xfrm>
          <a:prstGeom prst="roundRect">
            <a:avLst>
              <a:gd fmla="val 6667" name="adj"/>
            </a:avLst>
          </a:prstGeom>
          <a:solidFill>
            <a:srgbClr val="F4F8FC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chartline_teal.png" id="123" name="Google Shape;12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2160" y="3630168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6720840" y="3547872"/>
            <a:ext cx="4690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Equipes de planejamento e vigilância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720840" y="3822192"/>
            <a:ext cx="4690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Detectam sazonalidades e tendências por período e região.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623560" y="4608576"/>
            <a:ext cx="6016752" cy="1097280"/>
          </a:xfrm>
          <a:prstGeom prst="roundRect">
            <a:avLst>
              <a:gd fmla="val 6667" name="adj"/>
            </a:avLst>
          </a:prstGeom>
          <a:solidFill>
            <a:srgbClr val="EAF2FB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users_navy.png" id="127" name="Google Shape;12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2160" y="4837176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6720840" y="4754880"/>
            <a:ext cx="4690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Analista de Saúde Pública / População do SUS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720840" y="5029200"/>
            <a:ext cx="4690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Exploração técnica via Select AI; população ganha com melhor alocação de recursos.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48640" y="619963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Persona primária reposicionada para Secretário(a) de Saúde · gestão da rede estadual · SP 2022–2023.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MedFlow  |  Painel Inteligente de Acesso Hospitalar — DATASUS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_white.png" id="138" name="Google Shape;1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51206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/>
          <p:nvPr/>
        </p:nvSpPr>
        <p:spPr>
          <a:xfrm>
            <a:off x="1170432" y="0"/>
            <a:ext cx="10607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PROPOSTA DE SOLUÇÃO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548640" y="107899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: 5ª ENTREGA — O que nenhum ERP hospitalar entrega hoje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48640" y="173736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O MedFlow não cria dados novos. </a:t>
            </a:r>
            <a:r>
              <a:rPr b="0" i="0" lang="en-US" sz="13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Ele torna visível o que já existe no DATASUS em linguagem de gestão, acessível e acionável, permitindo ao gestor responder perguntas críticas </a:t>
            </a:r>
            <a:r>
              <a:rPr b="1" i="0" lang="en-US" sz="1350" u="none" cap="none" strike="noStrike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sem depender de SQL.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842232" y="2560320"/>
            <a:ext cx="269760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search_blue.png" id="144" name="Google Shape;1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400" y="278892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1025112" y="3611880"/>
            <a:ext cx="233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Inteligência histórica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025112" y="3931920"/>
            <a:ext cx="233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24 meses de série temporal. O gestor vê padrões que se repetem sem analista SQL.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736592" y="2560320"/>
            <a:ext cx="269760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bed_teal.png" id="148" name="Google Shape;14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278892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4919472" y="3611880"/>
            <a:ext cx="233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Benchmarking externo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919472" y="3931920"/>
            <a:ext cx="233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Compara cada unidade com pares de mesmo porte usando o DATASUS como fonte neutra.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695944" y="2560320"/>
            <a:ext cx="269760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calendar_blue.png" id="152" name="Google Shape;15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97112" y="278892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8878824" y="3611880"/>
            <a:ext cx="233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Ciclo mensal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8878824" y="3931920"/>
            <a:ext cx="233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Pipeline automático alinhado ao DATASUS. Para decisão estratégica, mensal basta.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48640" y="5029200"/>
            <a:ext cx="11091672" cy="822960"/>
          </a:xfrm>
          <a:prstGeom prst="roundRect">
            <a:avLst>
              <a:gd fmla="val 8889" name="adj"/>
            </a:avLst>
          </a:prstGeom>
          <a:solidFill>
            <a:srgbClr val="EAF2FB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bullseye_teal.png" id="156" name="Google Shape;15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240" y="519379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1417320" y="5029200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AB9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7AB94"/>
                </a:solidFill>
                <a:latin typeface="Calibri"/>
                <a:ea typeface="Calibri"/>
                <a:cs typeface="Calibri"/>
                <a:sym typeface="Calibri"/>
              </a:rPr>
              <a:t>Nosso diferencial:  </a:t>
            </a:r>
            <a:r>
              <a:rPr b="0" i="0" lang="en-US" sz="11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nenhum ERP hospitalar entrega benchmarking externo hoje os sistemas são fragmentados e operacionais. O MedFlow parte de dados oficiais e públicos para comparar unidades com fonte neutra e contexto histórico, com recorte no Estado de São Paulo.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48640" y="619963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Sobre a fragmentação dos sistemas de informação em saúde: EPSJV/Fiocruz (2022) — "Falta de integração e distribuição das bases de dados fragiliza sistemas de informação em saúde no país". epsjv.fiocruz.br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MedFlow  |  Painel Inteligente de Acesso Hospitalar — DATASUS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_white.png"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51206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/>
          <p:nvPr/>
        </p:nvSpPr>
        <p:spPr>
          <a:xfrm>
            <a:off x="1170432" y="0"/>
            <a:ext cx="10607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O MEDFLOW RESOLVE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548640" y="107899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: 5ª ENTREGA — Storytelling em 4 camadas, sem 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1641348" y="1828800"/>
            <a:ext cx="512064" cy="512064"/>
          </a:xfrm>
          <a:prstGeom prst="ellipse">
            <a:avLst/>
          </a:prstGeom>
          <a:solidFill>
            <a:srgbClr val="1A294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1641348" y="18288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48640" y="2468880"/>
            <a:ext cx="269748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question_navy.png" id="173" name="Google Shape;17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1620" y="2670048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/>
          <p:nvPr/>
        </p:nvSpPr>
        <p:spPr>
          <a:xfrm>
            <a:off x="685800" y="345643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Número atual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731520" y="3730752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IPH = 101% → Crítico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457700" y="1828800"/>
            <a:ext cx="512064" cy="512064"/>
          </a:xfrm>
          <a:prstGeom prst="ellipse">
            <a:avLst/>
          </a:prstGeom>
          <a:solidFill>
            <a:srgbClr val="2B6CB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4457700" y="18288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3364992" y="2468880"/>
            <a:ext cx="269748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db_blue.png" id="179" name="Google Shape;17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7972" y="2670048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/>
          <p:nvPr/>
        </p:nvSpPr>
        <p:spPr>
          <a:xfrm>
            <a:off x="3502152" y="345643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3547872" y="3730752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Mês anterior: 100% (Δ +1 p.p.)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7274052" y="1828800"/>
            <a:ext cx="512064" cy="512064"/>
          </a:xfrm>
          <a:prstGeom prst="ellipse">
            <a:avLst/>
          </a:prstGeom>
          <a:solidFill>
            <a:srgbClr val="37AB94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7274052" y="18288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181344" y="2468880"/>
            <a:ext cx="269748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th_teal.png" id="185" name="Google Shape;18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4324" y="2670048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6318504" y="345643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Padrão histórico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364224" y="3730752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Média 22–23: 101% · 12/23 meses &gt; 85%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090404" y="1828800"/>
            <a:ext cx="512064" cy="512064"/>
          </a:xfrm>
          <a:prstGeom prst="ellipse">
            <a:avLst/>
          </a:prstGeom>
          <a:solidFill>
            <a:srgbClr val="2B6CB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10090404" y="18288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997696" y="2468880"/>
            <a:ext cx="269748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check_blue.png" id="191" name="Google Shape;19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80676" y="2670048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9134856" y="345643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O que significa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9180576" y="3730752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sz="9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O Hospital está com IPH acima da normalidade há algum tempo</a:t>
            </a: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Série histórica de ocupação (IPH %)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8">
            <a:alphaModFix/>
          </a:blip>
          <a:srcRect b="0" l="902" r="1059" t="0"/>
          <a:stretch/>
        </p:blipFill>
        <p:spPr>
          <a:xfrm>
            <a:off x="100727" y="4846300"/>
            <a:ext cx="11951601" cy="136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_white.png" id="202" name="Google Shape;2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51206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/>
          <p:nvPr/>
        </p:nvSpPr>
        <p:spPr>
          <a:xfrm>
            <a:off x="1170432" y="0"/>
            <a:ext cx="10607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OS 5 ÍNDICES DO MEDFLOW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548640" y="107899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: 6ª ENTREGA — Um índice por pergunta de gestão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548640" y="1783080"/>
            <a:ext cx="11091672" cy="786384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gauge_blue.png" id="207" name="Google Shape;2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192024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/>
          <p:nvPr/>
        </p:nvSpPr>
        <p:spPr>
          <a:xfrm>
            <a:off x="1417320" y="1783080"/>
            <a:ext cx="9144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IPH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2377440" y="1783080"/>
            <a:ext cx="6263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Índice de Pressão Hospitalar</a:t>
            </a:r>
            <a:b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Mede o % de ocupação real dos leitos SUS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8732520" y="1783080"/>
            <a:ext cx="27432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7AB9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7AB94"/>
                </a:solidFill>
                <a:latin typeface="Calibri"/>
                <a:ea typeface="Calibri"/>
                <a:cs typeface="Calibri"/>
                <a:sym typeface="Calibri"/>
              </a:rPr>
              <a:t>Franco da Rocha 93,9% · Rota dos Bandeirantes 88,0% · Média SP 44%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48640" y="2660904"/>
            <a:ext cx="11091672" cy="786384"/>
          </a:xfrm>
          <a:prstGeom prst="roundRect">
            <a:avLst>
              <a:gd fmla="val 6977" name="adj"/>
            </a:avLst>
          </a:prstGeom>
          <a:solidFill>
            <a:srgbClr val="F4F8FC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hourglass_teal.png" id="212" name="Google Shape;21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2798064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"/>
          <p:cNvSpPr/>
          <p:nvPr/>
        </p:nvSpPr>
        <p:spPr>
          <a:xfrm>
            <a:off x="1417320" y="2660904"/>
            <a:ext cx="9144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IPR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2377440" y="2660904"/>
            <a:ext cx="6263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Índice de Permanência Relativa</a:t>
            </a:r>
            <a:b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Mostra se o paciente fica mais tempo que em hospitais pares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8732520" y="2660904"/>
            <a:ext cx="27432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7AB9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7AB94"/>
                </a:solidFill>
                <a:latin typeface="Calibri"/>
                <a:ea typeface="Calibri"/>
                <a:cs typeface="Calibri"/>
                <a:sym typeface="Calibri"/>
              </a:rPr>
              <a:t>IPR &gt; 1,0 = acima da média · Cardio SP 1,4×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48640" y="3538728"/>
            <a:ext cx="11091672" cy="786384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calendar_blue.png" id="217" name="Google Shape;21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" y="367588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1417320" y="3538728"/>
            <a:ext cx="9144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2377440" y="3538728"/>
            <a:ext cx="6263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Índice de Sazonalidade</a:t>
            </a:r>
            <a:b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Indica se o mês está acima do normal para a época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8732520" y="3538728"/>
            <a:ext cx="27432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7AB9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7AB94"/>
                </a:solidFill>
                <a:latin typeface="Calibri"/>
                <a:ea typeface="Calibri"/>
                <a:cs typeface="Calibri"/>
                <a:sym typeface="Calibri"/>
              </a:rPr>
              <a:t>Maio/Jun 2023 IS 1,05 · nenhum mês &gt; 1,20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548640" y="4416552"/>
            <a:ext cx="11091672" cy="786384"/>
          </a:xfrm>
          <a:prstGeom prst="roundRect">
            <a:avLst>
              <a:gd fmla="val 6977" name="adj"/>
            </a:avLst>
          </a:prstGeom>
          <a:solidFill>
            <a:srgbClr val="F4F8FC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heartbeat_navy.png" id="222" name="Google Shape;22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" y="4553712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/>
          <p:nvPr/>
        </p:nvSpPr>
        <p:spPr>
          <a:xfrm>
            <a:off x="1417320" y="4416552"/>
            <a:ext cx="9144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TMH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2377440" y="4416552"/>
            <a:ext cx="6263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Taxa de Mortalidade Hospitalar</a:t>
            </a:r>
            <a:b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Aponta mortalidade acima do esperado por especialidade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8732520" y="4416552"/>
            <a:ext cx="27432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7AB9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7AB94"/>
                </a:solidFill>
                <a:latin typeface="Calibri"/>
                <a:ea typeface="Calibri"/>
                <a:cs typeface="Calibri"/>
                <a:sym typeface="Calibri"/>
              </a:rPr>
              <a:t>Clínica 12,73% · UTI 4,44% · Média SP 5,36%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48640" y="5294376"/>
            <a:ext cx="11091672" cy="786384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coins_teal.png" id="227" name="Google Shape;22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1520" y="5431536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0"/>
          <p:cNvSpPr/>
          <p:nvPr/>
        </p:nvSpPr>
        <p:spPr>
          <a:xfrm>
            <a:off x="1417320" y="5294376"/>
            <a:ext cx="9144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CMI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2377440" y="5294376"/>
            <a:ext cx="6263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Custo Médio por Internação</a:t>
            </a:r>
            <a:br>
              <a:rPr b="1" i="0" lang="en-US" sz="12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Revela o custo por internação vs. hospitais similares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8732520" y="5294376"/>
            <a:ext cx="27432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7AB9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7AB94"/>
                </a:solidFill>
                <a:latin typeface="Calibri"/>
                <a:ea typeface="Calibri"/>
                <a:cs typeface="Calibri"/>
                <a:sym typeface="Calibri"/>
              </a:rPr>
              <a:t>Cirúrgica R$2.312 · UTI R$2.107 · Obstétrica R$638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48640" y="619963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Fonte: SIH/SUS · CNES · DATASUS · São Paulo 2022–2023 · Formulação própria MedFlow / Ômega Urban Tech.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MedFlow  |  Painel Inteligente de Acesso Hospitalar — DATASUS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_white.png" id="239" name="Google Shape;2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51206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1"/>
          <p:cNvSpPr/>
          <p:nvPr/>
        </p:nvSpPr>
        <p:spPr>
          <a:xfrm>
            <a:off x="1170432" y="0"/>
            <a:ext cx="10607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BENEFÍCIOS ESPERADOS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548640" y="107899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: 7ª ENTREGA — Valor gerado e métricas de sucesso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548640" y="1783080"/>
            <a:ext cx="5440680" cy="1993392"/>
          </a:xfrm>
          <a:prstGeom prst="roundRect">
            <a:avLst>
              <a:gd fmla="val 367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bolt_blue.png" id="244" name="Google Shape;24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672" y="20574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/>
          <p:nvPr/>
        </p:nvSpPr>
        <p:spPr>
          <a:xfrm>
            <a:off x="777240" y="2807208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93,9%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804672" y="333756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IPH · Franco da Rocha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2651760" y="203911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Contexto histórico visível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2651760" y="2560320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 secretaria sabe se a pressão é normal para a época. Franco da Rocha operou 2 anos a 93,9% invisível até o MedFlow.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6199632" y="1783080"/>
            <a:ext cx="5440680" cy="1993392"/>
          </a:xfrm>
          <a:prstGeom prst="roundRect">
            <a:avLst>
              <a:gd fmla="val 367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compass_teal.png" id="250" name="Google Shape;25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5664" y="20574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/>
          <p:nvPr/>
        </p:nvSpPr>
        <p:spPr>
          <a:xfrm>
            <a:off x="6428232" y="2807208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669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455664" y="333756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hospitais comparáveis em SP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8302752" y="203911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Benchmark externo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302752" y="2560320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DATASUS como fonte neutra compara cada unidade com pares de mesmo porte e região. Nenhum ERP faz isso.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48640" y="3959352"/>
            <a:ext cx="5440680" cy="1993392"/>
          </a:xfrm>
          <a:prstGeom prst="roundRect">
            <a:avLst>
              <a:gd fmla="val 367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sort_navy.png" id="256" name="Google Shape;25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672" y="4233672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1"/>
          <p:cNvSpPr/>
          <p:nvPr/>
        </p:nvSpPr>
        <p:spPr>
          <a:xfrm>
            <a:off x="777240" y="4983480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7,8%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804672" y="551383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hospital-meses em status Crítico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2651760" y="4215384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Pressão regional monitorada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2651760" y="4736592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1 em cada 13 meses de operação hospitalar em SP está acima de 85% de ocupação real antes invisível.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6199632" y="3959352"/>
            <a:ext cx="5440680" cy="1993392"/>
          </a:xfrm>
          <a:prstGeom prst="roundRect">
            <a:avLst>
              <a:gd fmla="val 367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share_blue.png" id="262" name="Google Shape;26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5664" y="4233672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/>
          <p:nvPr/>
        </p:nvSpPr>
        <p:spPr>
          <a:xfrm>
            <a:off x="6428232" y="4983480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12/23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455664" y="551383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meses críticos · CNES 2097648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8302752" y="4215384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Autonomia sem analista SQL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8302752" y="4736592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Das perguntas de negócio mapeadas, nenhuma exige SQL. 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548640" y="619963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Fonte: SIH/SUS · CNES · DATASUS · São Paulo 2022–2023 · Cálculos Ômega Urban Tech.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MedFlow  |  Painel Inteligente de Acesso Hospitalar — DATASUS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_white.png" id="275" name="Google Shape;2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51206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2"/>
          <p:cNvSpPr/>
          <p:nvPr/>
        </p:nvSpPr>
        <p:spPr>
          <a:xfrm>
            <a:off x="1170432" y="0"/>
            <a:ext cx="10607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ARQUITETURA DA SOLUÇÃO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548640" y="107899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: 7ª ENTREGA — Desenho ponta a ponta (3 fontes Oracle)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548640" y="1783080"/>
            <a:ext cx="2697480" cy="457200"/>
          </a:xfrm>
          <a:prstGeom prst="roundRect">
            <a:avLst>
              <a:gd fmla="val 10000" name="adj"/>
            </a:avLst>
          </a:prstGeom>
          <a:solidFill>
            <a:srgbClr val="1A29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640080" y="178308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· FONTES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548640" y="2313432"/>
            <a:ext cx="2697480" cy="3127248"/>
          </a:xfrm>
          <a:prstGeom prst="roundRect">
            <a:avLst>
              <a:gd fmla="val 2034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db_small_navy.png" id="282" name="Google Shape;28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53288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2"/>
          <p:cNvSpPr/>
          <p:nvPr/>
        </p:nvSpPr>
        <p:spPr>
          <a:xfrm>
            <a:off x="1298448" y="24963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SIH/SUS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1298448" y="27432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30"/>
              <a:buFont typeface="Calibri"/>
              <a:buNone/>
            </a:pPr>
            <a:r>
              <a:rPr b="0" i="0" lang="en-US" sz="83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Relacional (.dbc): internações, CID-10, permanência, custo, mortalidade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ic_layer_blue.png" id="285" name="Google Shape;28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3483864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2"/>
          <p:cNvSpPr/>
          <p:nvPr/>
        </p:nvSpPr>
        <p:spPr>
          <a:xfrm>
            <a:off x="1298448" y="34472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CNES (API)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1298448" y="3694176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30"/>
              <a:buFont typeface="Calibri"/>
              <a:buNone/>
            </a:pPr>
            <a:r>
              <a:rPr b="0" i="0" lang="en-US" sz="83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JSON: leitos SUS, hospitais, regiões de saúde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ic_table_teal.png" id="288" name="Google Shape;28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" y="443484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2"/>
          <p:cNvSpPr/>
          <p:nvPr/>
        </p:nvSpPr>
        <p:spPr>
          <a:xfrm>
            <a:off x="1298448" y="43982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População IBGE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1298448" y="464515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30"/>
              <a:buFont typeface="Calibri"/>
              <a:buNone/>
            </a:pPr>
            <a:r>
              <a:rPr b="0" i="0" lang="en-US" sz="83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CSV External Table: denominador per capita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3364992" y="1783080"/>
            <a:ext cx="2697480" cy="457200"/>
          </a:xfrm>
          <a:prstGeom prst="roundRect">
            <a:avLst>
              <a:gd fmla="val 10000" name="adj"/>
            </a:avLst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3456432" y="178308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· INGESTÃO / ETL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3364992" y="2313432"/>
            <a:ext cx="2697480" cy="3127248"/>
          </a:xfrm>
          <a:prstGeom prst="roundRect">
            <a:avLst>
              <a:gd fmla="val 2034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cogs_blue.png" id="294" name="Google Shape;294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0812" y="265176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2"/>
          <p:cNvSpPr/>
          <p:nvPr/>
        </p:nvSpPr>
        <p:spPr>
          <a:xfrm>
            <a:off x="3502152" y="37947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ETL / pysus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3547872" y="4270248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Python (pandas) + pysus 2.x baixam e convertem .dbc do FTP DATASUS. Cálculo dos 5 índices, saída em Parquet.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6181344" y="1783080"/>
            <a:ext cx="2697480" cy="457200"/>
          </a:xfrm>
          <a:prstGeom prst="roundRect">
            <a:avLst>
              <a:gd fmla="val 10000" name="adj"/>
            </a:avLst>
          </a:prstGeom>
          <a:solidFill>
            <a:srgbClr val="37AB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6272784" y="178308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· ARMAZENAMENTO &amp; ANÁLISE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6181344" y="2313432"/>
            <a:ext cx="2697480" cy="3127248"/>
          </a:xfrm>
          <a:prstGeom prst="roundRect">
            <a:avLst>
              <a:gd fmla="val 2034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cloud_teal.png" id="300" name="Google Shape;300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27164" y="265176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2"/>
          <p:cNvSpPr/>
          <p:nvPr/>
        </p:nvSpPr>
        <p:spPr>
          <a:xfrm>
            <a:off x="6318504" y="37947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Oracle Autonomous DB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6364224" y="4270248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Banco convergente: relacional + JSON + External Table. Database Actions (SQL). Sprint 2: Select AI (NLP → SQL).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8997696" y="1783080"/>
            <a:ext cx="2697480" cy="457200"/>
          </a:xfrm>
          <a:prstGeom prst="roundRect">
            <a:avLst>
              <a:gd fmla="val 10000" name="adj"/>
            </a:avLst>
          </a:prstGeom>
          <a:solidFill>
            <a:srgbClr val="1A29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9089136" y="178308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· CONSUMO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8997696" y="2313432"/>
            <a:ext cx="2697480" cy="3127248"/>
          </a:xfrm>
          <a:prstGeom prst="roundRect">
            <a:avLst>
              <a:gd fmla="val 2034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dashboard_navy.png" id="306" name="Google Shape;306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43516" y="265176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2"/>
          <p:cNvSpPr/>
          <p:nvPr/>
        </p:nvSpPr>
        <p:spPr>
          <a:xfrm>
            <a:off x="9134856" y="37947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Painel / Dashboard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9180576" y="4270248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Power BI (ou Oracle Analytics) entrega mapas, rankings e os 5 índices ao gestor sem depender de SQL.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548640" y="56235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Fluxo ponta a ponta: dados oficiais → ETL → banco convergente Oracle (OCI) → painel de negócio.  Recorte: Estado de São Paulo.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MedFlow  |  Painel Inteligente de Acesso Hospitalar — DATASUS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_white.png" id="317" name="Google Shape;3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51206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3"/>
          <p:cNvSpPr/>
          <p:nvPr/>
        </p:nvSpPr>
        <p:spPr>
          <a:xfrm>
            <a:off x="1170432" y="0"/>
            <a:ext cx="10607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TECNOLOGIAS UTILIZADAS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548640" y="107899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: 8ª ENTREGA — Stack e o papel de cada ferramenta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548640" y="178308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F4F8FC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cloud2_teal.png" id="322" name="Google Shape;32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011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3"/>
          <p:cNvSpPr/>
          <p:nvPr/>
        </p:nvSpPr>
        <p:spPr>
          <a:xfrm>
            <a:off x="1508760" y="1929384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Oracle Autonomous DB (OCI)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1508760" y="2203704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Banco convergente: relacional, JSON e External Tables no mesmo repositório.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6199632" y="178308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terminal_blue.png" id="326" name="Google Shape;32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8232" y="2011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3"/>
          <p:cNvSpPr/>
          <p:nvPr/>
        </p:nvSpPr>
        <p:spPr>
          <a:xfrm>
            <a:off x="7159752" y="1929384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SQL / Database Actions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7159752" y="2203704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Consultas, agregações e análise exploratória direto no console Oracle.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548640" y="2862072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F4F8FC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python_navy.png" id="330" name="Google Shape;33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309067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3"/>
          <p:cNvSpPr/>
          <p:nvPr/>
        </p:nvSpPr>
        <p:spPr>
          <a:xfrm>
            <a:off x="1508760" y="3008376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Python (pandas, scikit-learn)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1508760" y="3282696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ETL, cálculo dos 5 índices e análise exploratória dos dados.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6199632" y="2862072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filearchive_blue.png" id="334" name="Google Shape;33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8232" y="309067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3"/>
          <p:cNvSpPr/>
          <p:nvPr/>
        </p:nvSpPr>
        <p:spPr>
          <a:xfrm>
            <a:off x="7159752" y="3008376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DATASUS / CNES (APIs e arquivos)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7159752" y="3282696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Fontes oficiais: SIH/SUS (.dbc), CNES (JSON via API), população IBGE (CSV).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548640" y="3941064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F4F8FC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chartbar_blue.png" id="338" name="Google Shape;338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7240" y="416966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3"/>
          <p:cNvSpPr/>
          <p:nvPr/>
        </p:nvSpPr>
        <p:spPr>
          <a:xfrm>
            <a:off x="1508760" y="4087368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Power BI / Oracle Analytics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1508760" y="4361688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Camada de visualização: mapas, rankings e indicadores de capacidade.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199632" y="3941064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github_navy.png" id="342" name="Google Shape;34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8232" y="416966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3"/>
          <p:cNvSpPr/>
          <p:nvPr/>
        </p:nvSpPr>
        <p:spPr>
          <a:xfrm>
            <a:off x="7159752" y="4087368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GitHub + Scrum (Kanban)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7159752" y="4361688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Versionamento de código e gestão ágil do projeto entre os 5 integrantes.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3377057" y="5020056"/>
            <a:ext cx="54408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c_brain_teal.png" id="346" name="Google Shape;34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05657" y="524865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3"/>
          <p:cNvSpPr/>
          <p:nvPr/>
        </p:nvSpPr>
        <p:spPr>
          <a:xfrm>
            <a:off x="4337177" y="5166360"/>
            <a:ext cx="425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94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948"/>
                </a:solidFill>
                <a:latin typeface="Calibri"/>
                <a:ea typeface="Calibri"/>
                <a:cs typeface="Calibri"/>
                <a:sym typeface="Calibri"/>
              </a:rPr>
              <a:t>Pipeline mensal automático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4337177" y="5440680"/>
            <a:ext cx="425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Detecção de nova publicação DATASUS e atualização dos índices.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MedFlow  |  Painel Inteligente de Acesso Hospitalar — DATASUS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_white.png" id="356" name="Google Shape;3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51206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4"/>
          <p:cNvSpPr/>
          <p:nvPr/>
        </p:nvSpPr>
        <p:spPr>
          <a:xfrm>
            <a:off x="1170432" y="0"/>
            <a:ext cx="10607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PROTÓTIPOS DA SOLUÇÃO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548640" y="107899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: 9ª ENTREGA — Mockup do painel MedFlow (preliminar)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548640" y="619963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Protótipo ilustrativo (Figma / Power BI). KPIs baseados em dados oficiais do SIH/SUS + CNES (DATASUS) para SP. Regiões de saúde via REGSAUDE/CNES (de-para CIB-SP). Códigos não decodificados (legado / ruído de cadastro) serão tratados no ETL da Sprint 2.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MedFlow  |  Painel Inteligente de Acesso Hospitalar — DATASUS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ckup_painel.png" id="362" name="Google Shape;362;p14"/>
          <p:cNvPicPr preferRelativeResize="0"/>
          <p:nvPr/>
        </p:nvPicPr>
        <p:blipFill rotWithShape="1">
          <a:blip r:embed="rId4">
            <a:alphaModFix/>
          </a:blip>
          <a:srcRect b="0" l="744" r="0" t="0"/>
          <a:stretch/>
        </p:blipFill>
        <p:spPr>
          <a:xfrm>
            <a:off x="548650" y="1737350"/>
            <a:ext cx="6529175" cy="4359276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4"/>
          <p:cNvSpPr/>
          <p:nvPr/>
        </p:nvSpPr>
        <p:spPr>
          <a:xfrm>
            <a:off x="7375060" y="2071143"/>
            <a:ext cx="4663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O que o protótipo representa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7375060" y="2574063"/>
            <a:ext cx="46635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9274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92744"/>
                </a:solidFill>
                <a:latin typeface="Arial"/>
                <a:ea typeface="Arial"/>
                <a:cs typeface="Arial"/>
                <a:sym typeface="Arial"/>
              </a:rPr>
              <a:t>KPIs no topo: </a:t>
            </a:r>
            <a:r>
              <a:rPr b="0" i="0" lang="en-US" sz="12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respostas imediatas às perguntas críticas do gestor.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19274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92744"/>
                </a:solidFill>
                <a:latin typeface="Arial"/>
                <a:ea typeface="Arial"/>
                <a:cs typeface="Arial"/>
                <a:sym typeface="Arial"/>
              </a:rPr>
              <a:t>Ranking por região: </a:t>
            </a:r>
            <a:r>
              <a:rPr b="0" i="0" lang="en-US" sz="12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onde o volume de internações se concentra.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19274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92744"/>
                </a:solidFill>
                <a:latin typeface="Arial"/>
                <a:ea typeface="Arial"/>
                <a:cs typeface="Arial"/>
                <a:sym typeface="Arial"/>
              </a:rPr>
              <a:t>Mapa de pressão assistencial: </a:t>
            </a:r>
            <a:r>
              <a:rPr b="0" i="0" lang="en-US" sz="12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regiões com capacidade no limite (alta/média/baixa).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19274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92744"/>
                </a:solidFill>
                <a:latin typeface="Arial"/>
                <a:ea typeface="Arial"/>
                <a:cs typeface="Arial"/>
                <a:sym typeface="Arial"/>
              </a:rPr>
              <a:t>Filtros e período: </a:t>
            </a:r>
            <a:r>
              <a:rPr b="0" i="0" lang="en-US" sz="12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recorte por data e por região de saúde.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0E8C76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E8C76"/>
                </a:solidFill>
                <a:latin typeface="Arial"/>
                <a:ea typeface="Arial"/>
                <a:cs typeface="Arial"/>
                <a:sym typeface="Arial"/>
              </a:rPr>
              <a:t>Sem SQL: </a:t>
            </a:r>
            <a:r>
              <a:rPr b="0" i="0" lang="en-US" sz="125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o gestor navega visualmente e decide com autonomia.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9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_white.png" id="371" name="Google Shape;3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51206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5"/>
          <p:cNvSpPr/>
          <p:nvPr/>
        </p:nvSpPr>
        <p:spPr>
          <a:xfrm>
            <a:off x="1170432" y="0"/>
            <a:ext cx="106070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GERENCIAMENTO DO PROJETO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548640" y="1078992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 : 10ª ENTREGA — Framework ágil (Scrum + Kanban)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550040" y="5925365"/>
            <a:ext cx="1109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Papéis e responsabilidades:  </a:t>
            </a: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Carol Oliveira — Dados/ETL · Leandro Lopes — Arquitetura/OCI · Leandro Scutari — Representante &amp; Análise · Lucas Lima — Visualização/BI · Pedro Padovan — Apresentação &amp; Documentação.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550003" y="6363925"/>
            <a:ext cx="1109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MedFlow  |  Painel Inteligente de Acesso Hospitalar — DATASUS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15"/>
          <p:cNvPicPr preferRelativeResize="0"/>
          <p:nvPr/>
        </p:nvPicPr>
        <p:blipFill rotWithShape="1">
          <a:blip r:embed="rId4">
            <a:alphaModFix/>
          </a:blip>
          <a:srcRect b="23207" l="16536" r="949" t="15608"/>
          <a:stretch/>
        </p:blipFill>
        <p:spPr>
          <a:xfrm>
            <a:off x="1065938" y="1645163"/>
            <a:ext cx="10059823" cy="408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744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6"/>
          <p:cNvSpPr/>
          <p:nvPr/>
        </p:nvSpPr>
        <p:spPr>
          <a:xfrm>
            <a:off x="8961120" y="3931920"/>
            <a:ext cx="5029200" cy="5029200"/>
          </a:xfrm>
          <a:prstGeom prst="ellipse">
            <a:avLst/>
          </a:prstGeom>
          <a:solidFill>
            <a:srgbClr val="2131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10241280" y="-1463040"/>
            <a:ext cx="3108960" cy="3108960"/>
          </a:xfrm>
          <a:prstGeom prst="ellipse">
            <a:avLst/>
          </a:prstGeom>
          <a:solidFill>
            <a:srgbClr val="2131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4956048" y="1234440"/>
            <a:ext cx="2286000" cy="22860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9FB2C6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icon.png" id="386" name="Google Shape;38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0368" y="1481328"/>
            <a:ext cx="1737360" cy="159105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6"/>
          <p:cNvSpPr/>
          <p:nvPr/>
        </p:nvSpPr>
        <p:spPr>
          <a:xfrm>
            <a:off x="1828800" y="3703320"/>
            <a:ext cx="85313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1828800" y="4572000"/>
            <a:ext cx="8531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AB94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37AB94"/>
                </a:solidFill>
                <a:latin typeface="Calibri"/>
                <a:ea typeface="Calibri"/>
                <a:cs typeface="Calibri"/>
                <a:sym typeface="Calibri"/>
              </a:rPr>
              <a:t>MedFlow · Saúde que flui. Tecnologia que transforma.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2286000" y="5074920"/>
            <a:ext cx="7616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7D5E6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1371600" y="6172200"/>
            <a:ext cx="94457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8499B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9B5"/>
                </a:solidFill>
                <a:latin typeface="Calibri"/>
                <a:ea typeface="Calibri"/>
                <a:cs typeface="Calibri"/>
                <a:sym typeface="Calibri"/>
              </a:rPr>
              <a:t>Equipe Ômega Urban Tech  ·  Turma 1TSCOA  ·  Oracle Enterprise Challenge 2026  ·  Carol Oliveira · Leandro Lopes · Leandro Scutari · Lucas Lima · Pedro Padovan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