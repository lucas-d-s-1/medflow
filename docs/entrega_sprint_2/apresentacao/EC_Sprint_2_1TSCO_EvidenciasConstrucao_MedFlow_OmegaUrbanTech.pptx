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5"/>
    <p:sldId id="271" r:id="rId17"/>
    <p:sldId id="272" r:id="rId18"/>
    <p:sldId id="273" r:id="rId19"/>
    <p:sldId id="274" r:id="rId20"/>
    <p:sldId id="276" r:id="rId22"/>
    <p:sldId id="277" r:id="rId23"/>
    <p:sldId id="279" r:id="rId25"/>
    <p:sldId id="281" r:id="rId27"/>
    <p:sldId id="282" r:id="rId28"/>
    <p:sldId id="283" r:id="rId29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MedFlow é nome de marca (Med + Flow), não sigla. Sprint 2 do Enterprise Challenge FIAP x Oracle.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cinco integrantes participaram da Sprint 2. As frentes refletem a divisão registrada em docs/entrega_sprint_2/CONTEXTO_TIME.md.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região → hospital → especialidade/CID → hipótese é a estrutura conceitual do produto e organiza as quatro visões do WebApp.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formatos exigidos pelo desafio Oracle têm papéis distintos e intencionais: relacional modela, JSON preserva o semiestruturado do CNES, CSV/External Table entrega geografia e população.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é estrutural e reconhecido em políticas públicas de informação em saúde (RNDS, interoperabilidade). Não estamos alegando que ninguém olha esses dados — e sim que a leitura integrada exige esforço técnico repetido.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produto não substitui prontuário, regulação, censo de leitos, auditoria clínica ou conhecimento local. Isso é dito explicitamente na visão Metodologia do WebApp.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seis pontos são os diferenciais que sustentamos com evidência. Não alegamos superioridade sobre ferramentas existentes sem teste com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Mudança relevante: saímos de Power BI para um WebApp próprio em React/Vite — o produto ficou público, sem licença de BI, e o link é navegável por qualquer avaliador.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Escopo negativo explícito. É uma escolha deliberada: preferimos um MVP menor e integralmente validado a um escopo maior com alegações não sustentadas.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end-to-end obrigatório da Sprint 2. Todo o fluxo principal está implementado — nenhuma caixa do caminho central é apenas planejada.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obrigatório da Sprint 2: distinguir implementado de planejado. Nenhum componente do fluxo principal é apresentado como meramente planejado.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camada só consome a anterior. A Silver nunca lê arquivo bruto e a Gold nunca lê a Bronze — é isso que torna o pipeline reconstruível e auditável.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uso do Oracle não é decorativo: é o armazenamento, o serving e o ambiente do Select AI, tudo no mesmo perímetro governado.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cereja do bolo do desafio Oracle. Nosso diferencial é o controle: o Select AI é subordinado a um SQL de referência, não uma fonte autônoma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visões preservam filtros por URL e distinguem ausência legítima, falha de endpoint e contingência — três estados que costumam ser confundidos em painéis.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obrigatório da Sprint 2. Preferimos declarar exatamente o que aplicamos a alegar modelos que não construímos.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indicador carrega seu limite. O IPH é o exemplo mais importante: é pressão estimada sobre capacidade declarada, nunca taxa de ocupação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as duas molduras pontilhadas pelos prints reais das telas Regional e Fluxos.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as duas molduras pontilhadas pelos prints reais das telas Hospital e Metodologia.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número mais forte da entrega — e também o que exige mais cuidado ao apresentar: é consistência técnica, não prova de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feedback da Sprint 1 foi lido e endereçado é um diferencial de condução — o professor tutor reconhece o próprio comentário.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costuma ser o que mais impressiona uma banca técnica: mostra que o grupo entende a natureza dos dados que está usando.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entregue = o que o produto permite fazer hoje, com a evidência que temos. Impacto assistencial medido é o próximo passo, não uma alegação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Mensagem final: o MedFlow mostra que dados públicos, bem conformados e honestamente delimitados, já são suficientes para orientar onde investigar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3.png"/><Relationship Id="rId6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852160" cy="5852160"/>
          </a:xfrm>
          <a:prstGeom prst="ellipse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66960" y="3931920"/>
            <a:ext cx="4023360" cy="4023360"/>
          </a:xfrm>
          <a:prstGeom prst="ellipse">
            <a:avLst/>
          </a:prstGeom>
          <a:solidFill>
            <a:srgbClr val="111C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05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2026  ·  FIAP × ORACLE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Inteligente de Acesso Hospitalar e Perfil de Atendimento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072384"/>
            <a:ext cx="1371600" cy="32004"/>
          </a:xfrm>
          <a:prstGeom prst="rect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327355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mensal, auditável e comparável sobre dados públicos do SUS — de um sinal regional até uma hipótese de investigação documentada.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24528"/>
            <a:ext cx="7680960" cy="1060704"/>
          </a:xfrm>
          <a:prstGeom prst="roundRect">
            <a:avLst>
              <a:gd name="adj" fmla="val 4310"/>
            </a:avLst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4389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MVP e apresentação final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36976" y="4389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36976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1TSCOA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32704" y="4389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32704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Ômega Urban Tech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504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Oliveira  ·  Leandro Lopes  ·  Leandro Scutari  ·  Lucas Lima  ·  Pedro Padovan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79729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01/09/2026  ·  Recorte analítico: Estado de São Paulo, 2024-01 a 2026-06 (30 competências)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46920" y="2103120"/>
            <a:ext cx="1371600" cy="137160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36" y="2459736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MISSÃO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Equipe, componentes e responsabilidades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029200" cy="3063240"/>
          </a:xfrm>
          <a:prstGeom prst="roundRect">
            <a:avLst>
              <a:gd name="adj" fmla="val 1791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1517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 ·  ordem alfabética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883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Oliveira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883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571872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2286000"/>
            <a:ext cx="4517136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359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Lopes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2359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569353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2761488"/>
            <a:ext cx="4517136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Scutari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568671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" y="3236976"/>
            <a:ext cx="4517136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Lima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3310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572207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" y="3712464"/>
            <a:ext cx="4517136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" y="3785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Padovan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37856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568683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81144"/>
            <a:ext cx="5029200" cy="932688"/>
          </a:xfrm>
          <a:prstGeom prst="roundRect">
            <a:avLst>
              <a:gd name="adj" fmla="val 5882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4672" y="4718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1TSCOA  ·  Tecnólogo em Data Science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49834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de entrega: Leandro Scutari  ·  Framework: Scrum + Kanban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70448" y="13350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de trabalho na Sprint 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70448" y="1719072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035040" y="1810512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892" y="1910364"/>
            <a:ext cx="184343" cy="184343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547104" y="17830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Bronze — ingestão e preservação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547104" y="20025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Oliveira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870448" y="2377440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6035040" y="2468880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892" y="2568732"/>
            <a:ext cx="184343" cy="184343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547104" y="244144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Silver + Select AI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547104" y="26609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Lima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870448" y="3035808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6035040" y="3127248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892" y="3227100"/>
            <a:ext cx="184343" cy="18434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547104" y="30998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Gold — indicadores e marts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547104" y="33192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Scutari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5870448" y="3694176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42" name="Shape 37"/>
          <p:cNvSpPr/>
          <p:nvPr/>
        </p:nvSpPr>
        <p:spPr>
          <a:xfrm>
            <a:off x="6035040" y="3785616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892" y="3885468"/>
            <a:ext cx="184343" cy="184343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547104" y="37581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Oracle, views e ORDS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547104" y="39776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Padovan · Leandro Lopes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5870448" y="4352544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47" name="Shape 41"/>
          <p:cNvSpPr/>
          <p:nvPr/>
        </p:nvSpPr>
        <p:spPr>
          <a:xfrm>
            <a:off x="6035040" y="4443984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892" y="4543836"/>
            <a:ext cx="184343" cy="184343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547104" y="44165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React/Vite e publicação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6547104" y="46360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Padovan · Leandro Lopes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5870448" y="5010912"/>
            <a:ext cx="57698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52" name="Shape 45"/>
          <p:cNvSpPr/>
          <p:nvPr/>
        </p:nvSpPr>
        <p:spPr>
          <a:xfrm>
            <a:off x="6035040" y="5102352"/>
            <a:ext cx="384048" cy="38404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892" y="5202204"/>
            <a:ext cx="184343" cy="184343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547104" y="50749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pitch e apresentação final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6547104" y="52943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· Pedro · Leandro Lopes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7" name="Text 49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DO PROJETO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— o nome e a proposta de valor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5361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pPr indent="0" marL="0">
              <a:buNone/>
            </a:pPr>
            <a:r>
              <a:rPr lang="en-US" sz="36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41248" y="2212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saúde e contexto médico-hospitalar.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 fluxo do dado pelas camadas e o fluxo assistencial entre territórios.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FBF1E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60" y="3684300"/>
            <a:ext cx="184343" cy="1843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43584" y="3529584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é marca, não sigla — não há expansão letra por letra.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279392"/>
            <a:ext cx="475488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2960" y="44622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MEDFLOW NÃO É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" y="4754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42416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tempo real ou mecanismo de previsão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22960" y="50840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42416" y="5084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de ocupação real de leitos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2960" y="54132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42416" y="5413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Prontuário, regulação ou ferramenta de auditoria clínica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" y="57424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42416" y="5742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causalidade ou substituto do contexto local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60720" y="1335024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760720" y="1645920"/>
            <a:ext cx="5879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MedFlow transforma bases públicas administrativas do SUS em uma jornada auditável de triagem, preservando fonte, amostra, benchmark e limitações em cada número exibido.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760720" y="2560320"/>
            <a:ext cx="5879592" cy="676656"/>
          </a:xfrm>
          <a:prstGeom prst="roundRect">
            <a:avLst>
              <a:gd name="adj" fmla="val 810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5943600" y="270662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9436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55664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55664" y="2889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existe um sinal fora do histórico ou dos pares?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760720" y="3346704"/>
            <a:ext cx="5879592" cy="676656"/>
          </a:xfrm>
          <a:prstGeom prst="roundRect">
            <a:avLst>
              <a:gd name="adj" fmla="val 810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943600" y="3493008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9436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55664" y="3419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55664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unidade o sinal regional se concentra?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760720" y="4133088"/>
            <a:ext cx="5879592" cy="676656"/>
          </a:xfrm>
          <a:prstGeom prst="roundRect">
            <a:avLst>
              <a:gd name="adj" fmla="val 810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5943600" y="4279392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594360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455664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 / CID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455664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recorte explica o sinal, contra qual benchmark?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60720" y="4919472"/>
            <a:ext cx="5879592" cy="676656"/>
          </a:xfrm>
          <a:prstGeom prst="roundRect">
            <a:avLst>
              <a:gd name="adj" fmla="val 8108"/>
            </a:avLst>
          </a:prstGeom>
          <a:solidFill>
            <a:srgbClr val="EAF2FB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5943600" y="5065776"/>
            <a:ext cx="384048" cy="384048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594360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455664" y="4992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455664" y="52486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pergunta verificável levar à equipe local?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chegam antes do problema. A leitura, depois dele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SUS publica todo mês dados administrativos sobre internações, leitos, diagnósticos e valores. São públicos, abertos e chegam sozinhos — mas vivem em domínios distintos, e juntá-los custa tempo. Por isso costumam ser abertos depois que alguém já reclamou. A pergunta aqui é a inversa: o que esta competência já mostra.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uma única pergunta de gestão, é preciso combinar: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65836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2880360"/>
            <a:ext cx="109728" cy="1097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7824" y="2679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SIH/SUS — RD-SP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AIHs, internações, óbitos, diagnósticos, permanência, valores e residência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277977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65836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31520" y="3666744"/>
            <a:ext cx="109728" cy="109728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7824" y="3465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CNES/LT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37124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SUS declarados por estabelecimento e competência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35661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API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65836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" y="4453128"/>
            <a:ext cx="109728" cy="1097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7824" y="4251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DATASUS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4498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de saúde, CID-10, especialidades e lista normativa de ICSAP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43525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65836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31520" y="5239512"/>
            <a:ext cx="109728" cy="109728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7824" y="5038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" y="5285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2022, geografia, natureza jurídica e IPCA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51389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External Table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06640" y="1335024"/>
            <a:ext cx="4233672" cy="4553712"/>
          </a:xfrm>
          <a:prstGeom prst="roundRect">
            <a:avLst>
              <a:gd name="adj" fmla="val 1296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99248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RECORTE PROCESSADO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99248" y="19385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7.284.476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7699248" y="2359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AIHs aprovadas preservadas e conformadas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99248" y="2798064"/>
            <a:ext cx="3657600" cy="7315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699248" y="2935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699248" y="3355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mensais — 2024-01 a 2026-06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99248" y="3794760"/>
            <a:ext cx="3657600" cy="7315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699248" y="39319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 · 645 · 62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699248" y="43525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 · municípios · regiões de saúde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99248" y="4791456"/>
            <a:ext cx="3657600" cy="7315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699248" y="49286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7699248" y="5349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públicas, abertas e rastreáveis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599846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SIH/SUS (RD-SP) · CNES/LT · MS/DATASUS · IBGE. Dados administrativos públicos, agregados no produto. 2026 é período parcial, até junho.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leituras que precisam ser separadas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e analistas regionais precisam combinar bases e conceitos distintos para não confundir oferta com demanda, deslocamento com evasão, ou capacidade declarada com resultado administrativo.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2290389"/>
            <a:ext cx="210678" cy="2106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dos residentes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de quem mora no território e foi atendido em hospitais de SP.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93492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976372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89" y="2290389"/>
            <a:ext cx="210678" cy="21067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6372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hospitalar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976372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realizadas pelos hospitais instalados no território.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38344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221224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341" y="2290389"/>
            <a:ext cx="210678" cy="21067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21224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assistenciais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221224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de residência e destino do atendimento — quem sai, quem atrai.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283196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7466076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193" y="2290389"/>
            <a:ext cx="210678" cy="21067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66076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ICSAP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66076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populacional indireto relacionado à atenção primária.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9528048" y="1993392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9710928" y="21762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045" y="2290389"/>
            <a:ext cx="210678" cy="21067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10928" y="2724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hospitalares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9710928" y="31455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estimada, mortalidade, permanência, valor e benchmark.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48640" y="4133088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33" name="Text 26"/>
          <p:cNvSpPr/>
          <p:nvPr/>
        </p:nvSpPr>
        <p:spPr>
          <a:xfrm>
            <a:off x="859536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859536" y="4535424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“Quando uma competência nova é publicada, quero saber onde olhar antes que o problema chegue até mim: quais regiões e hospitais saíram do próprio histórico ou dos pares, qual recorte concentra o sinal, e o que levo como hipótese verificável para a equipe local — sem precisar montar um projeto de dados para cada pergunta.”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leitura integrada, a competência nova só é aberta quando alguém já reclamou. Aí a pergunta deixa de ser onde investigar e passa a ser como justificar o que já aconteceu.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construímos e qual decisão apoiamos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074920" cy="3127248"/>
          </a:xfrm>
          <a:prstGeom prst="roundRect">
            <a:avLst>
              <a:gd name="adj" fmla="val 1754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1248" y="1591056"/>
            <a:ext cx="658368" cy="65836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1762232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627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PRINCIPAL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0" y="186537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Gestor(a) ou analista regional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saúde de São Paulo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uma competência nova todo mês, com as bases na mão. E costuma descobrir o problema pelo telefone, não pelo dado.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1248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PRECISA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41248" y="3218688"/>
            <a:ext cx="4572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sinais fora do histórico ou dos pares, por território.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Descer do sinal regional ao hospital, à especialidade e ao CID.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a fórmula, a amostra e o limite de cada número exibido.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uma hipótese documentada para a conversa local.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25312" y="133502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se beneficiam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25312" y="1700784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108192" y="1920240"/>
            <a:ext cx="384048" cy="384048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044" y="202009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20256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hospitalares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20256" y="20848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 a própria unidade com pares regionais elegíveis por CID e especialidade.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25312" y="2633472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108192" y="2852928"/>
            <a:ext cx="384048" cy="384048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044" y="2952780"/>
            <a:ext cx="184343" cy="18434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0256" y="27614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técnicas e de planejamento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620256" y="30175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o aprofundamento, a API e o Select AI para investigação analítica.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925312" y="3566160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6108192" y="3785616"/>
            <a:ext cx="384048" cy="384048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p/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044" y="3885468"/>
            <a:ext cx="184343" cy="18434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20256" y="36941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do SUS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620256" y="39502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Beneficiária indireta de priorização mais informada de investigação e recursos.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48640" y="4645152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841248" y="4946904"/>
            <a:ext cx="493776" cy="493776"/>
          </a:xfrm>
          <a:prstGeom prst="ellipse">
            <a:avLst/>
          </a:prstGeom>
          <a:solidFill>
            <a:srgbClr val="21314F"/>
          </a:solidFill>
          <a:ln/>
        </p:spPr>
        <p:txBody>
          <a:bodyPr/>
          <a:p/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30" y="5075286"/>
            <a:ext cx="237012" cy="2370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99616" y="4882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APOIADA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499616" y="51206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investigar primeiro, qual recorte aprofundar e quais dados levar para a conversa local. A decisão final e a definição de ações permanecem com as equipes responsáveis.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SOLUÇÃO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caminho auditável do sinal à hipótese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cinco bases com finalidades diferentes, cada pergunta virando um projeto de dados, e a resposta chegando depois do problema. Depois: a competência publicada vira, no mesmo dia, uma lista de onde olhar primeiro. O MedFlow não cria dados novos — conforma as fontes uma vez, calcula os indicadores uma vez na Gold e serve por uma API somente leitura, com fórmula, amostra e limite ao lado de cada número.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68096" y="2340864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58" y="2450226"/>
            <a:ext cx="201900" cy="20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285292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reproduzível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" y="321868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SIH/RD, CNES/LT, referências do MS/DATASUS e IBGE em um pipeline com linhagem, manifesto e SHA-256.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15968" y="212140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535424" y="2340864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786" y="2450226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35424" y="285292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conceitual explícita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35424" y="321868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Residência, produção e deslocamento nunca se misturam — cada indicador declara seu denominador.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083296" y="212140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302752" y="2340864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114" y="2450226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285292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analítica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02752" y="321868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sinal é perseguido de região a hospital, especialidade e CID, sem trocar de ferramenta.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39136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768096" y="4133088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58" y="4242450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" y="46451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que exclui o próprio hospital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68096" y="501091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referência regional por CID é calculada sem a unidade avaliada, evitando autocomparação.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315968" y="39136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4535424" y="4133088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786" y="4242450"/>
            <a:ext cx="201900" cy="2019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35424" y="46451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até a fonte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35424" y="501091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Fórmulas, denominadores, amostras, estados nulos e limites ficam próximos ao dado exibido.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083296" y="39136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3" name="Shape 26"/>
          <p:cNvSpPr/>
          <p:nvPr/>
        </p:nvSpPr>
        <p:spPr>
          <a:xfrm>
            <a:off x="8302752" y="4133088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114" y="4242450"/>
            <a:ext cx="201900" cy="2019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302752" y="46451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governada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302752" y="501091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sobre o mesmo schema, sempre conferido contra um SQL de referência.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defensáveis registrados no dossiê técnico do projeto — cada um deles tem evidência correspondente no repositório.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SOLUÇÃO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planejado na Sprint 1 ao entregue na Sprint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1109441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017520"/>
                <a:gridCol w="4828032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Planejado na Sprint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 na Sprint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Recorte temporal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· 2022–2023 · 24 meses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· 2024-01 a 2026-06 · 30 competências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Python + pysus, saída em Parquet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Bronze/Silver/Gold com linhagem, manifesto e SHA-256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APROFUNDADO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DB (previsto)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AI Database 26ai Lakehouse, schema MEDFLOW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previsto na Sprint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endpoints GET e o POST do assistente no módulo público api/v1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ou Oracle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WebApp React 19 + TypeScript + Vite, duas páginas e quatro visões, no GitHub Pages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MUDOU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generativa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AI previsto, sem profile nem validação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MEDFLOW_GENAI, bateria de 5 perguntas e assistente FlowIA no produto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índices (IPH, IPR, IS, TMH, CMI)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índices com o IPE, mais fluxos, ICSAP, taxas populacionais e CMI real por IPCA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formalizada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8.403.103 comparações campo a campo, zero divergências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15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antigas a 2022–2023, 669 hospitais ou 5,21 mi de internações descrevem o estado histórico da Sprint 1, não o produto atual.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IMPLEMENTADO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entregue — e o que ficou de fora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486400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554480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322" y="1663842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5727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MVP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9536" y="221284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78992" y="21031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mensal territorial e hospitalar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8992" y="23317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competências reprocessáveis, de 2024-01 a 2026-06.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59536" y="276148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78992" y="26517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páginas navegáveis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8992" y="28803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contínua com território e hospital, mais a Metodologia; recorte na URL.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59536" y="331012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78992" y="32004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indicadores calculados e persistidos na Gold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8992" y="34290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frontend apenas apresenta e formata — nunca recalcula.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9536" y="385876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78992" y="37490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somente leitura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8992" y="39776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 GET e o POST do assistente, publicados por ORDS em api/v1.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59536" y="440740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78992" y="42976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até fonte, contrato e fórmula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78992" y="45262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Cobertura, cortes, flags e estados nulos documentados na aplicação.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59536" y="4956048"/>
            <a:ext cx="91440" cy="91440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78992" y="48463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FlowIA com IA generativa governada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78992" y="50749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sobre o schema MEDFLOW, com SQL auditável e memória de conversa.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309360" y="1335024"/>
            <a:ext cx="5330952" cy="4133088"/>
          </a:xfrm>
          <a:prstGeom prst="roundRect">
            <a:avLst>
              <a:gd name="adj" fmla="val 132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6583680" y="15544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042" y="1663842"/>
            <a:ext cx="201900" cy="2019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14032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MVP — SEM ALEGAÇÃO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620256" y="213969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858000" y="213969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real, previsão, machine learning ou clustering preditivo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620256" y="250088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858000" y="25008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ou prescrição automática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6620256" y="28620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858000" y="28620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real e disponibilidade operacional de leitos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620256" y="32232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858000" y="32232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contábil completo ou margem hospitalar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20256" y="35844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858000" y="35844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risco clínico e inferência causal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620256" y="39456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858000" y="39456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Prontuário, regulação ou análise individual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6620256" y="430682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858000" y="43068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Residentes paulistas internados fora do estado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6620256" y="46680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6858000" y="46680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impacto, adoção ou ganho de produtividade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6620256" y="50292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6858000" y="50292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ou qualquer licença de BI proprietária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548640" y="56692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Delimitar o que o MVP não faz é parte da entrega: cada limite acima aparece também na visão Metodologia da aplicação.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FINAL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dos dados ponta a ponta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única por etapa: Bronze preserva · Silver harmoniza · Gold calcula · Oracle armazena · views projetam · ORDS expõe · o WebApp apresenta.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1993392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2097999"/>
            <a:ext cx="193121" cy="1931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21408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SIH/RD · CNES/LT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MS/DATASUS · IBGE</a:t>
            </a: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2519172"/>
            <a:ext cx="155448" cy="155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16352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2999232" y="1993392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839" y="2097999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9120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99232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2999232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Preservação fiel,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linhagem e SHA-256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519172"/>
            <a:ext cx="155448" cy="15544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84064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5266944" y="1993392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551" y="2097999"/>
            <a:ext cx="193121" cy="1931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56832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266944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266944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Tipagem, de/paras,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dimensões · 2 fatos</a:t>
            </a:r>
            <a:endParaRPr lang="en-US" sz="8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324" y="2519172"/>
            <a:ext cx="155448" cy="15544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351776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9" name="Shape 21"/>
          <p:cNvSpPr/>
          <p:nvPr/>
        </p:nvSpPr>
        <p:spPr>
          <a:xfrm>
            <a:off x="7534656" y="1993392"/>
            <a:ext cx="402336" cy="402336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p/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9263" y="2097999"/>
            <a:ext cx="193121" cy="1931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924544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7534656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7534656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Indicadores,
5 dimensões · 7 marts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2519172"/>
            <a:ext cx="155448" cy="155448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9619488" y="1810512"/>
            <a:ext cx="204825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6" name="Shape 26"/>
          <p:cNvSpPr/>
          <p:nvPr/>
        </p:nvSpPr>
        <p:spPr>
          <a:xfrm>
            <a:off x="9802368" y="1993392"/>
            <a:ext cx="402336" cy="402336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p/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975" y="2097999"/>
            <a:ext cx="193121" cy="193121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1192256" y="19751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9802368" y="24871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26ai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9802368" y="276148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Lakehouse, schema
MEDFLOW, 12 tabelas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41" name="Shape 30"/>
          <p:cNvSpPr/>
          <p:nvPr/>
        </p:nvSpPr>
        <p:spPr>
          <a:xfrm>
            <a:off x="10639044" y="3383280"/>
            <a:ext cx="9144" cy="274320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42" name="Shape 31"/>
          <p:cNvSpPr/>
          <p:nvPr/>
        </p:nvSpPr>
        <p:spPr>
          <a:xfrm>
            <a:off x="1371600" y="3657600"/>
            <a:ext cx="9272016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43" name="Shape 32"/>
          <p:cNvSpPr/>
          <p:nvPr/>
        </p:nvSpPr>
        <p:spPr>
          <a:xfrm>
            <a:off x="1371600" y="3657600"/>
            <a:ext cx="9144" cy="292608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44" name="Text 33"/>
          <p:cNvSpPr/>
          <p:nvPr/>
        </p:nvSpPr>
        <p:spPr>
          <a:xfrm>
            <a:off x="5212080" y="3438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SERVING E CONSUMO</a:t>
            </a:r>
            <a:endParaRPr lang="en-US" sz="750" dirty="0"/>
          </a:p>
        </p:txBody>
      </p:sp>
      <p:sp>
        <p:nvSpPr>
          <p:cNvPr id="45" name="Shape 34"/>
          <p:cNvSpPr/>
          <p:nvPr/>
        </p:nvSpPr>
        <p:spPr>
          <a:xfrm>
            <a:off x="548640" y="3950208"/>
            <a:ext cx="3291840" cy="1389888"/>
          </a:xfrm>
          <a:prstGeom prst="roundRect">
            <a:avLst>
              <a:gd name="adj" fmla="val 394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46" name="Shape 35"/>
          <p:cNvSpPr/>
          <p:nvPr/>
        </p:nvSpPr>
        <p:spPr>
          <a:xfrm>
            <a:off x="749808" y="41513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415" y="4255983"/>
            <a:ext cx="193121" cy="193121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1261872" y="41513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+ ORDS</a:t>
            </a:r>
            <a:endParaRPr lang="en-US" sz="1150" dirty="0"/>
          </a:p>
        </p:txBody>
      </p:sp>
      <p:sp>
        <p:nvSpPr>
          <p:cNvPr id="49" name="Text 37"/>
          <p:cNvSpPr/>
          <p:nvPr/>
        </p:nvSpPr>
        <p:spPr>
          <a:xfrm>
            <a:off x="749808" y="46268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de projeção pura, sem recálculo. Módulo público api/v1 com 10 endpoints GET e o POST do assistente.</a:t>
            </a:r>
            <a:endParaRPr lang="en-US" sz="850" dirty="0"/>
          </a:p>
        </p:txBody>
      </p:sp>
      <p:sp>
        <p:nvSpPr>
          <p:cNvPr id="50" name="Shape 38"/>
          <p:cNvSpPr/>
          <p:nvPr/>
        </p:nvSpPr>
        <p:spPr>
          <a:xfrm>
            <a:off x="4078224" y="3950208"/>
            <a:ext cx="3291840" cy="1389888"/>
          </a:xfrm>
          <a:prstGeom prst="roundRect">
            <a:avLst>
              <a:gd name="adj" fmla="val 394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51" name="Shape 39"/>
          <p:cNvSpPr/>
          <p:nvPr/>
        </p:nvSpPr>
        <p:spPr>
          <a:xfrm>
            <a:off x="4279392" y="41513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3999" y="4255983"/>
            <a:ext cx="193121" cy="193121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4791456" y="41513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REACT/VITE</a:t>
            </a:r>
            <a:endParaRPr lang="en-US" sz="1150" dirty="0"/>
          </a:p>
        </p:txBody>
      </p:sp>
      <p:sp>
        <p:nvSpPr>
          <p:cNvPr id="54" name="Text 41"/>
          <p:cNvSpPr/>
          <p:nvPr/>
        </p:nvSpPr>
        <p:spPr>
          <a:xfrm>
            <a:off x="4279392" y="46268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TypeScript, publicado no GitHub Pages. Duas páginas e quatro visões consomem valores prontos da API.</a:t>
            </a:r>
            <a:endParaRPr lang="en-US" sz="850" dirty="0"/>
          </a:p>
        </p:txBody>
      </p:sp>
      <p:sp>
        <p:nvSpPr>
          <p:cNvPr id="55" name="Shape 42"/>
          <p:cNvSpPr/>
          <p:nvPr/>
        </p:nvSpPr>
        <p:spPr>
          <a:xfrm>
            <a:off x="7607808" y="3950208"/>
            <a:ext cx="1920240" cy="1389888"/>
          </a:xfrm>
          <a:prstGeom prst="roundRect">
            <a:avLst>
              <a:gd name="adj" fmla="val 394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56" name="Shape 43"/>
          <p:cNvSpPr/>
          <p:nvPr/>
        </p:nvSpPr>
        <p:spPr>
          <a:xfrm>
            <a:off x="7790688" y="41513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5295" y="4255983"/>
            <a:ext cx="193121" cy="193121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7790688" y="4608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</a:t>
            </a:r>
            <a:endParaRPr lang="en-US" sz="1050" dirty="0"/>
          </a:p>
        </p:txBody>
      </p:sp>
      <p:sp>
        <p:nvSpPr>
          <p:cNvPr id="59" name="Text 45"/>
          <p:cNvSpPr/>
          <p:nvPr/>
        </p:nvSpPr>
        <p:spPr>
          <a:xfrm>
            <a:off x="7790688" y="484632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controlada sobre o mesmo schema.</a:t>
            </a:r>
            <a:endParaRPr lang="en-US" sz="800" dirty="0"/>
          </a:p>
        </p:txBody>
      </p:sp>
      <p:sp>
        <p:nvSpPr>
          <p:cNvPr id="60" name="Shape 46"/>
          <p:cNvSpPr/>
          <p:nvPr/>
        </p:nvSpPr>
        <p:spPr>
          <a:xfrm>
            <a:off x="9765792" y="3950208"/>
            <a:ext cx="1874520" cy="1389888"/>
          </a:xfrm>
          <a:prstGeom prst="roundRect">
            <a:avLst>
              <a:gd name="adj" fmla="val 394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61" name="Shape 47"/>
          <p:cNvSpPr/>
          <p:nvPr/>
        </p:nvSpPr>
        <p:spPr>
          <a:xfrm>
            <a:off x="9948672" y="41513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3279" y="4255983"/>
            <a:ext cx="193121" cy="193121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9948672" y="4608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050" dirty="0"/>
          </a:p>
        </p:txBody>
      </p:sp>
      <p:sp>
        <p:nvSpPr>
          <p:cNvPr id="64" name="Text 49"/>
          <p:cNvSpPr/>
          <p:nvPr/>
        </p:nvSpPr>
        <p:spPr>
          <a:xfrm>
            <a:off x="9948672" y="484632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snapshots locais rotulados, sem mistura de fonte.</a:t>
            </a:r>
            <a:endParaRPr lang="en-US" sz="800" dirty="0"/>
          </a:p>
        </p:txBody>
      </p:sp>
      <p:sp>
        <p:nvSpPr>
          <p:cNvPr id="65" name="Text 50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registram exploração e análise; o pacote Python é o motor oficial do pipeline. Nenhum indicador é recalculado depois da camada Gold.</a:t>
            </a:r>
            <a:endParaRPr lang="en-US" sz="800" dirty="0"/>
          </a:p>
        </p:txBody>
      </p:sp>
      <p:sp>
        <p:nvSpPr>
          <p:cNvPr id="66" name="Text 51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67" name="Text 52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TÉCNICA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implementado, o que ainda não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86384" y="15727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746" y="1682130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21031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no MVP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" y="25740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05840" y="24688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→ Bronze → Silver → Gold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4672" y="29169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05840" y="28117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Dimensões, fatos e sete marts contratados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04672" y="32598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05840" y="31546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no Oracle 26ai Lakehouse, schema MEDFLOW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4672" y="36027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05840" y="34975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de projeção e módulo ORDS api/v1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4672" y="39456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05840" y="38404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público: duas páginas e quatro visões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04672" y="42885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05840" y="41833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de contingência por endpoint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" y="46314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05840" y="45262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com profile, bateria e FlowIA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4672" y="4974336"/>
            <a:ext cx="77724" cy="7772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05840" y="486918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reconciliações e testes automatizados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315968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BF1E0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553712" y="15727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074" y="1682130"/>
            <a:ext cx="201900" cy="2019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553712" y="21031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da IA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53712" y="246888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SQL gerado passa por guarda de somente leitura, auditoria em tabela própria e cota diária. A narrativa só é liberada depois da conferência do SQL.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553712" y="3584448"/>
            <a:ext cx="309067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4553712" y="373075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narrativa nunca é a fonte da verdade: ela é rejeitada quando o SQL diverge ou quando o texto ultrapassa a metodologia.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8083296" y="1335024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8321040" y="15727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402" y="1682130"/>
            <a:ext cx="201900" cy="2019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321040" y="21031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futura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8321040" y="246888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primária com usuários reais para medir compreensão, utilidade, adoção, tempo, erro e impacto.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321040" y="3584448"/>
            <a:ext cx="309067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39" name="Text 34"/>
          <p:cNvSpPr/>
          <p:nvPr/>
        </p:nvSpPr>
        <p:spPr>
          <a:xfrm>
            <a:off x="8321040" y="373075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fora da arquitetura implementada: é ampliação de evidência, não componente de software.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48640" y="5449824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41" name="Text 36"/>
          <p:cNvSpPr/>
          <p:nvPr/>
        </p:nvSpPr>
        <p:spPr>
          <a:xfrm>
            <a:off x="841248" y="5559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MVP, SEM IMPLEMENTAÇÃO ALEGADA:   </a:t>
            </a:r>
            <a:pPr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 · previsão · machine learning · clustering · decisão automática · prontuário · regulação · censo operacional de leitos · custo contábil completo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 e Gold — o caminho inteiro do dado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335024"/>
            <a:ext cx="3566160" cy="786384"/>
          </a:xfrm>
          <a:prstGeom prst="roundRect">
            <a:avLst>
              <a:gd name="adj" fmla="val 6977"/>
            </a:avLst>
          </a:prstGeom>
          <a:solidFill>
            <a:srgbClr val="FBF1E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792224"/>
            <a:ext cx="3566160" cy="329184"/>
          </a:xfrm>
          <a:prstGeom prst="rect">
            <a:avLst/>
          </a:prstGeom>
          <a:solidFill>
            <a:srgbClr val="FBF1E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86384" y="1527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1631655"/>
            <a:ext cx="193121" cy="1931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98448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6384" y="22860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86384" y="2505456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de competências, download com cache incremental, conversão fiel para Parquet, linhagem técnica, manifesto e SHA-256. Nenhuma regra de negócio.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6384" y="35844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VIGENTES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86384" y="38221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7.284.476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6384" y="411480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SIH/RD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86384" y="44256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251.457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6384" y="4718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CNES/LT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86384" y="5065776"/>
            <a:ext cx="309067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86384" y="515721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proveniência, permite auditoria e torna o processo reconstruível.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315968" y="1335024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315968" y="1335024"/>
            <a:ext cx="3566160" cy="786384"/>
          </a:xfrm>
          <a:prstGeom prst="roundRect">
            <a:avLst>
              <a:gd name="adj" fmla="val 697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4315968" y="1792224"/>
            <a:ext cx="3566160" cy="329184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553712" y="1527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319" y="1631655"/>
            <a:ext cx="193121" cy="19312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65776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065776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Conformar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553712" y="22860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553712" y="2505456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Tipagem, nomes canônicos, de/paras documentados, chaves, geografia e qualidade. Separa AIH aprovada, internação nova (IDENT=1) e continuação (IDENT=5).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553712" y="35844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VIGENTES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553712" y="38221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+ 2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4553712" y="411480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e fatos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553712" y="44256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19.341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4553712" y="4718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fato leito mensal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553712" y="5065776"/>
            <a:ext cx="309067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4553712" y="515721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linguagem comum e evita limpeza ou joins divergentes por indicador.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8083296" y="1335024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9" name="Shape 35"/>
          <p:cNvSpPr/>
          <p:nvPr/>
        </p:nvSpPr>
        <p:spPr>
          <a:xfrm>
            <a:off x="8083296" y="1335024"/>
            <a:ext cx="3566160" cy="786384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40" name="Shape 36"/>
          <p:cNvSpPr/>
          <p:nvPr/>
        </p:nvSpPr>
        <p:spPr>
          <a:xfrm>
            <a:off x="8083296" y="1792224"/>
            <a:ext cx="3566160" cy="329184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p/>
        </p:txBody>
      </p:sp>
      <p:sp>
        <p:nvSpPr>
          <p:cNvPr id="41" name="Shape 37"/>
          <p:cNvSpPr/>
          <p:nvPr/>
        </p:nvSpPr>
        <p:spPr>
          <a:xfrm>
            <a:off x="8321040" y="1527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647" y="1631655"/>
            <a:ext cx="193121" cy="193121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833104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8833104" y="1755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8321040" y="22860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8321040" y="2505456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marts, um grão de análise cada: hospital, hospital/especialidade, hospital/CID, região mensal e por período, fluxos e ICSAP. Fórmulas, denominadores, amostras, benchmarks, correção por IPCA e agregações geográficas, a partir apenas de estruturas contratadas da Silver.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8321040" y="35844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VIGENTES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8321040" y="38221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9" name="Text 44"/>
          <p:cNvSpPr/>
          <p:nvPr/>
        </p:nvSpPr>
        <p:spPr>
          <a:xfrm>
            <a:off x="8321040" y="411480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no Oracle: 5 dimensões e 7 marts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1040" y="44256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597.930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8321040" y="4718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carregadas no Oracle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8321040" y="5065776"/>
            <a:ext cx="309067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53" name="Text 48"/>
          <p:cNvSpPr/>
          <p:nvPr/>
        </p:nvSpPr>
        <p:spPr>
          <a:xfrm>
            <a:off x="8321040" y="515721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semântica única do banco, da API e das telas: 189 colunas comentadas, e indicador nenhum é recalculado depois daqui.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API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26ai Lakehouse e os onze endpoints públicos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39496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04672" y="1554480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1663842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554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 modelo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24128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Database 26ai, workload Lakehouse, região de São Paulo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41248" y="248716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24128" y="2395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MEDFLOW com conexão mTLS obrigatória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41248" y="276148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24128" y="2670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aplicação MEDFLOW, separado do usuário ADMIN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41248" y="303580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24128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de projeção pura — nenhum indicador é recalculado no banco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1248" y="331012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24128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tabela por AutoREST: api/v1 expõe 10 GET e 1 POST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3712464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04672" y="391363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4" y="4022994"/>
            <a:ext cx="201900" cy="2019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35024" y="39136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governança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41248" y="4526280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1024128" y="44439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público somente leitura; CORS restrito à origem do GitHub Pages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41248" y="4782312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024128" y="47000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administrativa por mTLS; wallet, senhas e .env fora do Git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841248" y="5038344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1024128" y="49560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por OCI Resource Principal — sem chave externa no código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41248" y="5294376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1024128" y="52120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testes verificam OpenAPI, SQL dos handlers e respostas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41248" y="5550408"/>
            <a:ext cx="73152" cy="73152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1024128" y="54681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legítima, parâmetro inválido, erro e indisponibilidade são estados distintos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217920" y="1335024"/>
            <a:ext cx="5422392" cy="4389120"/>
          </a:xfrm>
          <a:prstGeom prst="roundRect">
            <a:avLst>
              <a:gd name="adj" fmla="val 1250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6492240" y="15910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CARGA E INTEGRIDADE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492240" y="19019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47</a:t>
            </a:r>
            <a:endParaRPr lang="en-US" sz="2400" dirty="0"/>
          </a:p>
        </p:txBody>
      </p:sp>
      <p:sp>
        <p:nvSpPr>
          <p:cNvPr id="37" name="Text 33"/>
          <p:cNvSpPr/>
          <p:nvPr/>
        </p:nvSpPr>
        <p:spPr>
          <a:xfrm>
            <a:off x="6492240" y="23042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portões do gate Oracle com estado ok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492240" y="2633472"/>
            <a:ext cx="4846320" cy="7315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6492240" y="27432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0" name="Text 36"/>
          <p:cNvSpPr/>
          <p:nvPr/>
        </p:nvSpPr>
        <p:spPr>
          <a:xfrm>
            <a:off x="6492240" y="31455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 integridade retornando vazio, como esperado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492240" y="3474720"/>
            <a:ext cx="4846320" cy="7315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6492240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597.930</a:t>
            </a:r>
            <a:endParaRPr lang="en-US" sz="2400" dirty="0"/>
          </a:p>
        </p:txBody>
      </p:sp>
      <p:sp>
        <p:nvSpPr>
          <p:cNvPr id="43" name="Text 39"/>
          <p:cNvSpPr/>
          <p:nvPr/>
        </p:nvSpPr>
        <p:spPr>
          <a:xfrm>
            <a:off x="6492240" y="39867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carregadas nas 12 tabelas do recorte vigente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6492240" y="4315968"/>
            <a:ext cx="4846320" cy="7315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6492240" y="44256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46" name="Text 42"/>
          <p:cNvSpPr/>
          <p:nvPr/>
        </p:nvSpPr>
        <p:spPr>
          <a:xfrm>
            <a:off x="6492240" y="4828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entre o conteúdo servido e a camada Gold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492240" y="5138928"/>
            <a:ext cx="4846320" cy="7315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6492240" y="52486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Always Free pode hibernar por inatividade. A conferência de apresentação roda em um comando e checa conexão, contrato, competência, os endpoints e o link público — 12 de 12 na última execução.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ORACLE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FlowIA — o assistente que consulta o Select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5074920" cy="1225296"/>
          </a:xfrm>
          <a:prstGeom prst="roundRect">
            <a:avLst>
              <a:gd name="adj" fmla="val 4478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04672" y="15361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1645554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5361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FlowIA faz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20116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do produto. O gestor pergunta em português na tela em que já está, e a FlowIA manda junto o contexto silencioso — competência, região, hospital e a análise ativa.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706624"/>
            <a:ext cx="5074920" cy="731520"/>
          </a:xfrm>
          <a:prstGeom prst="roundRect">
            <a:avLst>
              <a:gd name="adj" fmla="val 7500"/>
            </a:avLst>
          </a:prstGeom>
          <a:solidFill>
            <a:srgbClr val="FBF1E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68096" y="28529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957535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779776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sobre regra de produto a FlowIA responde sozinha, sem custo e sem modelo. Ao Select AI vai só pergunta de dado — e a resposta nunca substitui Gold, contrato ou SQL validado.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8640" y="360273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 uma pergunta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98678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4864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87552" y="3922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304288" y="3922776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tela, a competência e as duas rodadas anteriores acompanham a pergunta.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48640" y="447141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48640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87552" y="44074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showsql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304288" y="4407408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Select AI gera o SQL sobre o profile MEDFLOW_GENAI, e ele é inspecionado antes de rodar.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48640" y="4956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548640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987552" y="4892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2304288" y="4892040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executa o que começa por SELECT ou WITH; verbo de escrita derruba a rodada.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48640" y="544068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4864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987552" y="5376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2304288" y="5376672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narrativa sai depois do SQL conferido, e passa por varredura de vocabulário.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48640" y="588873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pergunta grava uma linha auditável: o SQL, a narrativa e o que a varredura marcou. Cota de 50 por dia, e a narrativa nunca é a fonte da verdade.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870448" y="1335024"/>
            <a:ext cx="5769864" cy="4828032"/>
          </a:xfrm>
          <a:prstGeom prst="roundRect">
            <a:avLst>
              <a:gd name="adj" fmla="val 1136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6144768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ROTEIRO FOI TESTADO: 20 DE 20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144768" y="1920240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309360" y="2084832"/>
            <a:ext cx="329184" cy="32918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630936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748272" y="1975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 de 20 perguntas humanas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748272" y="22037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Curtas, vagas e coloquiais, com o contexto vindo só da tela. Reprovava 0 de 20 em 26/08.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0076688" y="1975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6144768" y="2670048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42" name="Shape 38"/>
          <p:cNvSpPr/>
          <p:nvPr/>
        </p:nvSpPr>
        <p:spPr>
          <a:xfrm>
            <a:off x="6309360" y="2834640"/>
            <a:ext cx="329184" cy="32918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43" name="Text 39"/>
          <p:cNvSpPr/>
          <p:nvPr/>
        </p:nvSpPr>
        <p:spPr>
          <a:xfrm>
            <a:off x="630936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6748272" y="27249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resposta conferida na Gold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748272" y="29535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SQL de referência roda na mesma Gold, e os rótulos e a ordem têm de bater com os do modelo.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10076688" y="27249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6144768" y="3419856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48" name="Shape 44"/>
          <p:cNvSpPr/>
          <p:nvPr/>
        </p:nvSpPr>
        <p:spPr>
          <a:xfrm>
            <a:off x="6309360" y="3584448"/>
            <a:ext cx="329184" cy="329184"/>
          </a:xfrm>
          <a:prstGeom prst="ellipse">
            <a:avLst/>
          </a:prstGeom>
          <a:solidFill>
            <a:srgbClr val="37AB94"/>
          </a:solidFill>
          <a:ln/>
        </p:spPr>
        <p:txBody>
          <a:bodyPr/>
          <a:p/>
        </p:txBody>
      </p:sp>
      <p:sp>
        <p:nvSpPr>
          <p:cNvPr id="49" name="Text 45"/>
          <p:cNvSpPr/>
          <p:nvPr/>
        </p:nvSpPr>
        <p:spPr>
          <a:xfrm>
            <a:off x="630936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6748272" y="3474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devem ser recusadas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748272" y="37033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cheio hoje, pior hospital, IPR ruim: a FlowIA responde que o dado não mede isso.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10076688" y="34747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6144768" y="4169664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54" name="Shape 50"/>
          <p:cNvSpPr/>
          <p:nvPr/>
        </p:nvSpPr>
        <p:spPr>
          <a:xfrm>
            <a:off x="6309360" y="4334256"/>
            <a:ext cx="329184" cy="329184"/>
          </a:xfrm>
          <a:prstGeom prst="ellipse">
            <a:avLst/>
          </a:prstGeom>
          <a:solidFill>
            <a:srgbClr val="B5761B"/>
          </a:solidFill>
          <a:ln/>
        </p:spPr>
        <p:txBody>
          <a:bodyPr/>
          <a:p/>
        </p:txBody>
      </p:sp>
      <p:sp>
        <p:nvSpPr>
          <p:cNvPr id="55" name="Text 51"/>
          <p:cNvSpPr/>
          <p:nvPr/>
        </p:nvSpPr>
        <p:spPr>
          <a:xfrm>
            <a:off x="6309360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52"/>
          <p:cNvSpPr/>
          <p:nvPr/>
        </p:nvSpPr>
        <p:spPr>
          <a:xfrm>
            <a:off x="6748272" y="4224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única, ainda por fazer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748272" y="44531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20 fecharam em duas rodadas no mesmo dia: a cota diária de 50 perguntas acabou antes de uma só.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10076688" y="422452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REVALIDAR</a:t>
            </a:r>
            <a:endParaRPr lang="en-US" sz="650" dirty="0"/>
          </a:p>
        </p:txBody>
      </p:sp>
      <p:sp>
        <p:nvSpPr>
          <p:cNvPr id="59" name="Shape 55"/>
          <p:cNvSpPr/>
          <p:nvPr/>
        </p:nvSpPr>
        <p:spPr>
          <a:xfrm>
            <a:off x="6144768" y="4919472"/>
            <a:ext cx="5221224" cy="658368"/>
          </a:xfrm>
          <a:prstGeom prst="roundRect">
            <a:avLst>
              <a:gd name="adj" fmla="val 6944"/>
            </a:avLst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60" name="Shape 56"/>
          <p:cNvSpPr/>
          <p:nvPr/>
        </p:nvSpPr>
        <p:spPr>
          <a:xfrm>
            <a:off x="6309360" y="5084064"/>
            <a:ext cx="329184" cy="329184"/>
          </a:xfrm>
          <a:prstGeom prst="ellipse">
            <a:avLst/>
          </a:prstGeom>
          <a:solidFill>
            <a:srgbClr val="B5761B"/>
          </a:solidFill>
          <a:ln/>
        </p:spPr>
        <p:txBody>
          <a:bodyPr/>
          <a:p/>
        </p:txBody>
      </p:sp>
      <p:sp>
        <p:nvSpPr>
          <p:cNvPr id="61" name="Text 57"/>
          <p:cNvSpPr/>
          <p:nvPr/>
        </p:nvSpPr>
        <p:spPr>
          <a:xfrm>
            <a:off x="6309360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2" name="Text 58"/>
          <p:cNvSpPr/>
          <p:nvPr/>
        </p:nvSpPr>
        <p:spPr>
          <a:xfrm>
            <a:off x="6748272" y="49743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perguntas territoriais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6748272" y="52029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Evasão intrastadual e grupos ICSAP aguardam o fechamento comparativo das outras três.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10076688" y="497433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spc="8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REVALIDAR</a:t>
            </a:r>
            <a:endParaRPr lang="en-US" sz="650" dirty="0"/>
          </a:p>
        </p:txBody>
      </p:sp>
      <p:sp>
        <p:nvSpPr>
          <p:cNvPr id="65" name="Text 61"/>
          <p:cNvSpPr/>
          <p:nvPr/>
        </p:nvSpPr>
        <p:spPr>
          <a:xfrm>
            <a:off x="6144768" y="5724144"/>
            <a:ext cx="5221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defeitos corrigidos — caixa alta, ordem invertida, mês truncado, buffer, amostra, ICSAP e competência solta. As correções vivem no prompt do pacote PL/SQL: valem para a bateria e para o site.</a:t>
            </a:r>
            <a:endParaRPr lang="en-US" sz="750" dirty="0"/>
          </a:p>
        </p:txBody>
      </p:sp>
      <p:sp>
        <p:nvSpPr>
          <p:cNvPr id="66" name="Text 62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— duas páginas, uma investigação contínua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Vite, publicado no GitHub Pages. São duas páginas e quatro visões: Território, Pares e Hospital dividem a análise, ancorados na mesma leitura, e a Metodologia é a segunda página. As telas consomem valores prontos da API e aplicam apenas formatação com Intl — sem fórmulas, faixas ou cortes próprios.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65376"/>
            <a:ext cx="2670048" cy="331012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8653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432304"/>
            <a:ext cx="2670048" cy="329184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9808" y="2048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2152863"/>
            <a:ext cx="193121" cy="1931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3584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9808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existe um sinal que merece investigação?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49808" y="2907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49808" y="3108960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das 62 regiões colorido pelo placar de sinais ou pelo IPH, totais do recorte com MoM e YoY, e a série mensal da região escolhida.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49808" y="3904488"/>
            <a:ext cx="226771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49808" y="40142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49808" y="4215384"/>
            <a:ext cx="2267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onde olhar primeiro, e a série diz se o sinal é do mês ou vem de antes — sem converter sinal em conclusão de desempenho.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92424" y="1865376"/>
            <a:ext cx="2670048" cy="331012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392424" y="18653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392424" y="2432304"/>
            <a:ext cx="2670048" cy="329184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593592" y="2048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199" y="2152863"/>
            <a:ext cx="193121" cy="19312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87368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593592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número é alto para um hospital deste porte?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593592" y="2907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3593592" y="3108960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interquartil, mediana e posição do hospital entre pares do mesmo porte, na mesma região, com os pares nomeados e o critério escrito.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593592" y="3904488"/>
            <a:ext cx="226771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3593592" y="40142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593592" y="4215384"/>
            <a:ext cx="2267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sabia dizer o número e não sabia dizer se ele era normal. O porte entra no critério porque é ele que torna os números comparáveis.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236208" y="1865376"/>
            <a:ext cx="2670048" cy="331012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6236208" y="18653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6236208" y="2432304"/>
            <a:ext cx="2670048" cy="329184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6437376" y="2048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83" y="2152863"/>
            <a:ext cx="193121" cy="193121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931152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437376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hospital, especialidade ou diagnóstico o sinal se concentra?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6437376" y="2907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6437376" y="3108960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ordenável da região, série mensal, especialidades com o IPE e CIDs elegíveis para o IPR.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6437376" y="3904488"/>
            <a:ext cx="226771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41" name="Text 36"/>
          <p:cNvSpPr/>
          <p:nvPr/>
        </p:nvSpPr>
        <p:spPr>
          <a:xfrm>
            <a:off x="6437376" y="40142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6437376" y="4215384"/>
            <a:ext cx="2267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 volume, tendência, mortalidade, valor e permanência ante os pares, sempre com recorte e amostra declarados.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9079992" y="1865376"/>
            <a:ext cx="2670048" cy="331012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44" name="Shape 39"/>
          <p:cNvSpPr/>
          <p:nvPr/>
        </p:nvSpPr>
        <p:spPr>
          <a:xfrm>
            <a:off x="9079992" y="18653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45" name="Shape 40"/>
          <p:cNvSpPr/>
          <p:nvPr/>
        </p:nvSpPr>
        <p:spPr>
          <a:xfrm>
            <a:off x="9079992" y="2432304"/>
            <a:ext cx="2670048" cy="329184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46" name="Shape 41"/>
          <p:cNvSpPr/>
          <p:nvPr/>
        </p:nvSpPr>
        <p:spPr>
          <a:xfrm>
            <a:off x="9281160" y="2048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767" y="2152863"/>
            <a:ext cx="193121" cy="193121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9774936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9281160" y="24505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origem do número e quais são seus limites?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9281160" y="29077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9281160" y="3108960"/>
            <a:ext cx="226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e limites em primeiro plano; cobertura, fórmulas, cortes, estados de ausência, definições e fontes logo abaixo.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9281160" y="3904488"/>
            <a:ext cx="2267712" cy="9144"/>
          </a:xfrm>
          <a:prstGeom prst="rect">
            <a:avLst/>
          </a:prstGeom>
          <a:solidFill>
            <a:srgbClr val="D7E3F2"/>
          </a:solidFill>
          <a:ln/>
        </p:spPr>
        <p:txBody>
          <a:bodyPr/>
          <a:p/>
        </p:txBody>
      </p:sp>
      <p:sp>
        <p:nvSpPr>
          <p:cNvPr id="53" name="Text 47"/>
          <p:cNvSpPr/>
          <p:nvPr/>
        </p:nvSpPr>
        <p:spPr>
          <a:xfrm>
            <a:off x="9281160" y="40142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</a:t>
            </a:r>
            <a:endParaRPr lang="en-US" sz="750" dirty="0"/>
          </a:p>
        </p:txBody>
      </p:sp>
      <p:sp>
        <p:nvSpPr>
          <p:cNvPr id="54" name="Text 48"/>
          <p:cNvSpPr/>
          <p:nvPr/>
        </p:nvSpPr>
        <p:spPr>
          <a:xfrm>
            <a:off x="9281160" y="4215384"/>
            <a:ext cx="2267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rastreáveis a definição, a elegibilidade e a interpretação de cada indicador.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6" name="Text 5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 TÉCNICAS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efetivamente aplicado na construção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49808" y="1536192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1631290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51790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199339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das fontes, distribuições, valores ausentes, domínios e outliers antes de qualquer regra de negócio.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15968" y="1335024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17136" y="1536192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34" y="1631290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74336" y="151790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dimensional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17136" y="199339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dimensões e dois fatos na Silver; dimensões geográficas e sete marts na Gold, com grão declarado.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083296" y="1335024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284464" y="1536192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2" y="1631290"/>
            <a:ext cx="175565" cy="1755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41664" y="151790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mensais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84464" y="199339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Trinta competências por região e hospital, sustentando tendência e leitura temporal.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48640" y="2743200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49808" y="294436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6" y="3039466"/>
            <a:ext cx="175565" cy="1755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292608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sazonal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49808" y="3401568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Sazonalidade compara cada mês de 2026 com a média do mesmo mês em 2024 e 2025.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315968" y="2743200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4517136" y="294436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234" y="3039466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74336" y="292608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com elegibilidade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17136" y="3401568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regional por CID que exclui o próprio hospital, com cortes mínimos de amostra.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8083296" y="2743200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8284464" y="294436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562" y="3039466"/>
            <a:ext cx="175565" cy="17556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741664" y="292608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origem–destino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8284464" y="3401568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assistencial entre região de residência e região de atendimento, com participações reconciliadas.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48640" y="4151376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7" name="Shape 29"/>
          <p:cNvSpPr/>
          <p:nvPr/>
        </p:nvSpPr>
        <p:spPr>
          <a:xfrm>
            <a:off x="749808" y="4352544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6" y="4447642"/>
            <a:ext cx="175565" cy="17556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07008" y="43342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normativa ICSAP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749808" y="480974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CIDs classificados pela Portaria 221/2008 em 19 grupos oficiais.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4315968" y="4151376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42" name="Shape 33"/>
          <p:cNvSpPr/>
          <p:nvPr/>
        </p:nvSpPr>
        <p:spPr>
          <a:xfrm>
            <a:off x="4517136" y="4352544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2234" y="4447642"/>
            <a:ext cx="175565" cy="17556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974336" y="43342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monetária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4517136" y="480974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 real obtido pela aplicação do fator IPCA sobre o valor aprovado, com competência de preço registrada.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8083296" y="4151376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47" name="Shape 37"/>
          <p:cNvSpPr/>
          <p:nvPr/>
        </p:nvSpPr>
        <p:spPr>
          <a:xfrm>
            <a:off x="8284464" y="4352544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9562" y="4447642"/>
            <a:ext cx="175565" cy="175565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741664" y="43342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reconciliação</a:t>
            </a:r>
            <a:endParaRPr lang="en-US" sz="1050" dirty="0"/>
          </a:p>
        </p:txBody>
      </p:sp>
      <p:sp>
        <p:nvSpPr>
          <p:cNvPr id="50" name="Text 39"/>
          <p:cNvSpPr/>
          <p:nvPr/>
        </p:nvSpPr>
        <p:spPr>
          <a:xfrm>
            <a:off x="8284464" y="480974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colunas, fórmulas e invariantes verificados camada a camada e campo a campo.</a:t>
            </a:r>
            <a:endParaRPr lang="en-US" sz="850" dirty="0"/>
          </a:p>
        </p:txBody>
      </p:sp>
      <p:sp>
        <p:nvSpPr>
          <p:cNvPr id="51" name="Shape 40"/>
          <p:cNvSpPr/>
          <p:nvPr/>
        </p:nvSpPr>
        <p:spPr>
          <a:xfrm>
            <a:off x="548640" y="5504688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52" name="Text 41"/>
          <p:cNvSpPr/>
          <p:nvPr/>
        </p:nvSpPr>
        <p:spPr>
          <a:xfrm>
            <a:off x="841248" y="559612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FAZEM PARTE DO MVP:   </a:t>
            </a:r>
            <a:pPr indent="0" marL="0">
              <a:buNone/>
            </a:pPr>
            <a:r>
              <a:rPr lang="en-US" sz="9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clustering preditivo, previsão, inferência causal ou IA decisória. As técnicas são exploratórias, dimensionais e comparativas.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4" name="Text 43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INDICADORES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hospitalares e seus limites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11094415" cy="4343400"/>
        </p:xfrm>
        <a:graphic>
          <a:graphicData uri="http://schemas.openxmlformats.org/drawingml/2006/table">
            <a:tbl>
              <a:tblPr/>
              <a:tblGrid>
                <a:gridCol w="2240280"/>
                <a:gridCol w="3017520"/>
                <a:gridCol w="2651760"/>
                <a:gridCol w="31821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analítico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declarado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Pressão Hospitalar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Pacientes-dia reconstruídos ÷ leitos-dia SUS declarados, expresso em percentual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 pressão estimada ou incompatibilidade em hospital e região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é ocupação real; leitos são capacidade declarada mensal. Valores acima de 100% são mantidos como sinal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Mortalidade Hospitalar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Óbitos em internações novas ÷ internações novas × 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série, especialidade e pares quando há amostra suficiente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ajuste de risco; não prova causalidade nem qualidade assistencial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Permanência Relativa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Permanência média hospital/CID ÷ permanência média regional do mesmo CID, excluído o próprio hospital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Aprofunda o diagnóstico contra um benchmark elegível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20 internações no hospital/CID e benchmark de 50 internações em ao menos 3 hospitais; case mix pode diferir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CMI nominal e real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médio aprovado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aprovado das internações novas ÷ internações novas; a versão real aplica o fator IPCA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Contextualiza valor administrativo por hospital, especialidade, região e período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é custo contábil, custo completo ou margem hospitalar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Sazonalidade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Internações novas do mês de 2026 ÷ média do mesmo mês em 2024 e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o mês atual com dois anos-base equivalentes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comparação sazonal curta, não previsão nem modelo definitivo; 2026 é parcial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Permanência média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dos dias de permanência ÷ internações novas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 uso administrativo de recursos e sustenta o IPR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Sofre influência do perfil de casos; não é desfecho de qualidade isolado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semânticas transversais: denominador nulo em vez de divisão por zero, ausência preservada como distinta de zero, e classificação separada para amostra insuficiente.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VISUAIS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em execução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990088" y="26609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3225" y="279404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6634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8096" y="479145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TELA EVIDENCIA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8096" y="5010912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das 62 regiões colorido pelo placar de sinais: o tom mais claro é o melhor do recorte, o mais escuro é o pior, e a escala se estica até o máximo observado. O gestor vê de longe onde há sinal fora do padrão, e a legenda diz que é placar para priorizar investigação, não nota de qualidade.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45352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45352" y="1700784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686800" y="26609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937" y="2794041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19672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45352" y="46634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464808" y="479145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TELA EVIDENCIA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6464808" y="5010912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pares do mesmo porte, na mesma região: faixa interquartil, mediana e a posição do hospital, com o critério escrito e os pares nomeados. É aqui que o número deixa de ser um valor solto e passa a ter uma régua — e a régua fixa o porte, porque é ele que torna os números comparáveis.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dos dados exibida na própria interface: “Oracle ao vivo” quando a API responde, “Snapshot de contingência” quando não — nunca há mistura silenciosa entre as duas.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pic>
        <p:nvPicPr>
          <p:cNvPr id="25" name="Picture 24" descr="jornada-1-territor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595" y="1700784"/>
            <a:ext cx="4463050" cy="2834640"/>
          </a:xfrm>
          <a:prstGeom prst="rect">
            <a:avLst/>
          </a:prstGeom>
        </p:spPr>
      </p:pic>
      <p:pic>
        <p:nvPicPr>
          <p:cNvPr id="26" name="Picture 25" descr="jornada-4-pa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822" y="1700784"/>
            <a:ext cx="485001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DA IA GENERATIVA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FlowIA respondendo, e o rastro auditado no APEX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FlowIA no site publicado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990088" y="26609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3225" y="279404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6634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8096" y="479145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TELA EVIDENCIA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8096" y="5010912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feita ao vivo no site, em 29/08: “quem segura o paciente por mais tempo?”. O texto não nomeia indicador, tabela nem corte — a FlowIA leu a tela, escolheu permanência média, aplicou o corte de amostra e fixou a competência. O SQL fica a um clique.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45352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no APEX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45352" y="1700784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4F8FC"/>
          </a:solidFill>
          <a:ln w="12700">
            <a:solidFill>
              <a:srgbClr val="4A86C6"/>
            </a:solidFill>
            <a:prstDash val="dash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686800" y="26609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937" y="2794041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19672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A8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45352" y="46634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464808" y="4791456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TELA EVIDENCIA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6464808" y="5010912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camada pelo APEX, onde cada pergunta vira uma linha auditada: o SQL que o modelo gerou, a narrativa e o que a varredura de vocabulário marcou. É o rastro que sustenta a resposta — a narrativa nunca é a fonte da verdade.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telas passam pelo mesmo pacote PL/SQL — guarda de somente leitura, corte de amostra, cota diária e auditoria em tabela própria. A bateria de 20 perguntas humanas testa esse mesmo caminho.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25" name="Picture 24" descr="flowia-ao-vivo-conver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216" y="1700784"/>
            <a:ext cx="3093807" cy="2834640"/>
          </a:xfrm>
          <a:prstGeom prst="rect">
            <a:avLst/>
          </a:prstGeom>
        </p:spPr>
      </p:pic>
      <p:pic>
        <p:nvPicPr>
          <p:cNvPr id="26" name="Picture 25" descr="apex_select_ai_r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653" y="1700784"/>
            <a:ext cx="3152357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TÉCNICA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medido — e o que isso comprova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11091672" cy="1133856"/>
          </a:xfrm>
          <a:prstGeom prst="roundRect">
            <a:avLst>
              <a:gd name="adj" fmla="val 4839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7824" y="14996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8.403.103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77824" y="20665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campo a campo entre o conteúdo servido pelo produto e a camada Gold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9144" cy="713232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14996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675120" y="2066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encontradas no método executado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15184"/>
          <a:ext cx="1109441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87452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da evidência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 Bronze, Silver e Gold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aderentes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Schemas, colunas, fórmulas e invariantes de cada camada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Reconciliação Oracle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/ 47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e métricas do banco contra o contrato vigente; seis gates de integridade vazios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Reconciliação produto × Gold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8.403.103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servido comparado campo a campo e posicionalmente com os marts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público api/v1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aprovadas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Correspondência do OpenAPI com o módulo público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Reconciliação pública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Amostra do conteúdo publicado confrontada com a 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do frontend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AB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conferido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renderizados verificados com Playwright, incluindo erro, ausência e contingência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de 5 fechadas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de referência, showsql e narrate comparados; duas perguntas territoriais aguardam o mesmo fechamento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50992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BF1E0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68096" y="57241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5828751"/>
            <a:ext cx="193121" cy="1931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570585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divergência comprova consistência técnica no recorte, nos campos e no método testados. Não comprova completude clínica, impacto, causalidade, adoção ou utilidade para usuários reais.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PROJETO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e Kanban ao longo das duas sprints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26700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149961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 – 16/06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 e arquitetura de solução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65176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9808" y="26517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· nota 10</a:t>
            </a:r>
            <a:endParaRPr lang="en-US" sz="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976" y="2121408"/>
            <a:ext cx="137160" cy="1371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392424" y="1335024"/>
            <a:ext cx="26700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593592" y="149961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17/06 – 15/08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593592" y="1737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93592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Oracle, ORDS, WebApp e Select AI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593592" y="265176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593592" y="26517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7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21408"/>
            <a:ext cx="137160" cy="1371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36208" y="1335024"/>
            <a:ext cx="26700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437376" y="149961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16/08/2026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437376" y="1737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37376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público servido por api/v1 e v0.2.0 no GitHub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437376" y="265176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437376" y="26517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7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2121408"/>
            <a:ext cx="137160" cy="1371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079992" y="1335024"/>
            <a:ext cx="26700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9281160" y="149961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9281160" y="1737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9281160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PPT, vídeo pitch e apresentação final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281160" y="265176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BF1E0"/>
          </a:solidFill>
          <a:ln/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9281160" y="26517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5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fechamento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548640" y="3218688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4" name="Shape 29"/>
          <p:cNvSpPr/>
          <p:nvPr/>
        </p:nvSpPr>
        <p:spPr>
          <a:xfrm>
            <a:off x="786384" y="34198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91" y="3524463"/>
            <a:ext cx="193121" cy="193121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98448" y="341985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adotadas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822960" y="4041648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38" name="Text 32"/>
          <p:cNvSpPr/>
          <p:nvPr/>
        </p:nvSpPr>
        <p:spPr>
          <a:xfrm>
            <a:off x="1005840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com frentes por camada da arquitetura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822960" y="4370832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40" name="Text 34"/>
          <p:cNvSpPr/>
          <p:nvPr/>
        </p:nvSpPr>
        <p:spPr>
          <a:xfrm>
            <a:off x="1005840" y="4261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no GitHub com branches por entrega e pull requests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822960" y="4700016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42" name="Text 36"/>
          <p:cNvSpPr/>
          <p:nvPr/>
        </p:nvSpPr>
        <p:spPr>
          <a:xfrm>
            <a:off x="1005840" y="4590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de contexto compartilhado, mantendo números coerentes entre entregáveis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822960" y="5029200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1005840" y="4919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dados como critério de pronto de cada camada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822960" y="5358384"/>
            <a:ext cx="73152" cy="7315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p/>
        </p:txBody>
      </p:sp>
      <p:sp>
        <p:nvSpPr>
          <p:cNvPr id="46" name="Text 40"/>
          <p:cNvSpPr/>
          <p:nvPr/>
        </p:nvSpPr>
        <p:spPr>
          <a:xfrm>
            <a:off x="1005840" y="5248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ao vivo para integração entre pipeline, banco e frontend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217920" y="3218688"/>
            <a:ext cx="5422392" cy="2395728"/>
          </a:xfrm>
          <a:prstGeom prst="roundRect">
            <a:avLst>
              <a:gd name="adj" fmla="val 2290"/>
            </a:avLst>
          </a:prstGeom>
          <a:solidFill>
            <a:srgbClr val="1A2948"/>
          </a:solidFill>
          <a:ln/>
        </p:spPr>
        <p:txBody>
          <a:bodyPr/>
          <a:p/>
        </p:txBody>
      </p:sp>
      <p:sp>
        <p:nvSpPr>
          <p:cNvPr id="48" name="Text 42"/>
          <p:cNvSpPr/>
          <p:nvPr/>
        </p:nvSpPr>
        <p:spPr>
          <a:xfrm>
            <a:off x="6473952" y="34198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DA SPRINT 1  ·  COMO FOI ENDEREÇADO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6473952" y="369417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principal ponto de atenção para as próximas etapas é garantir aprofundamento técnico nos diferenciais e prototipação funcional.”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6473952" y="4425696"/>
            <a:ext cx="310896" cy="310896"/>
          </a:xfrm>
          <a:prstGeom prst="ellipse">
            <a:avLst/>
          </a:prstGeom>
          <a:solidFill>
            <a:srgbClr val="21314F"/>
          </a:solidFill>
          <a:ln/>
        </p:spPr>
        <p:txBody>
          <a:bodyPr/>
          <a:p/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785" y="4506529"/>
            <a:ext cx="149230" cy="14923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876288" y="43891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técnico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6876288" y="46085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por camada, benchmark com elegibilidade, reconciliação campo a campo e Select AI verificado contra SQL.</a:t>
            </a:r>
            <a:endParaRPr lang="en-US" sz="850" dirty="0"/>
          </a:p>
        </p:txBody>
      </p:sp>
      <p:sp>
        <p:nvSpPr>
          <p:cNvPr id="54" name="Shape 47"/>
          <p:cNvSpPr/>
          <p:nvPr/>
        </p:nvSpPr>
        <p:spPr>
          <a:xfrm>
            <a:off x="6473952" y="5047488"/>
            <a:ext cx="310896" cy="310896"/>
          </a:xfrm>
          <a:prstGeom prst="ellipse">
            <a:avLst/>
          </a:prstGeom>
          <a:solidFill>
            <a:srgbClr val="21314F"/>
          </a:solidFill>
          <a:ln/>
        </p:spPr>
        <p:txBody>
          <a:bodyPr/>
          <a:p/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785" y="5128321"/>
            <a:ext cx="149230" cy="14923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876288" y="50109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Prototipação funcional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6876288" y="5230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mockup virou produto público navegável: quatro visões servidas por dez endpoints reais.</a:t>
            </a:r>
            <a:endParaRPr lang="en-US" sz="850" dirty="0"/>
          </a:p>
        </p:txBody>
      </p:sp>
      <p:sp>
        <p:nvSpPr>
          <p:cNvPr id="58" name="Text 50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9" name="Text 51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ANALÍTICO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dado permite dizer — e o que não permite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do MedFlow nasce de um dado administrativo com finalidade própria. Declarar o limite junto ao número é parte do produto, não uma ressalva de rodapé.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11094415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913632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 documentado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 correta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Alegação que NÃO sustentamos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publicados por competência mensal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mensal das competências disponíveis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Monitoramento em tempo real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 usa pacientes-dia e leitos-dia declarados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Pressão estimada sobre capacidade declarada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ocupação real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CMI usa valores aprovados pelo SUS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médio aprovado, nominal ou corrigido por IPCA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da internação, custo completo ou margem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TMH é óbito observado sobre internação nova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Mortalidade administrativa sem ajuste de risco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de má qualidade ou causalidade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IPR compara com benchmark regional elegível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de permanência que exige amostra e contexto clínico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de ineficiência hospitalar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é observado nos atendimentos em SP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Evasão intrastadual observada e atração assistencial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Evasão total, incluindo outras UFs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ICSAP segue lista oficial por CID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populacional indireto sobre atenção primária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Internação individual comprovadamente evitável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compara 2026 com 2024 e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 sazonal histórica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ou modelo sazonal definitivo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MVP foi validado tecnicamente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Viabilidade e coerência técnica no recorte vigente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57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 validado por gestores ou impacto comprovado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0702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não realizou entrevistas, observação de campo, teste de usabilidade ou piloto com usuários reais. Utilidade, adoção e impacto são fronteira de evidência futura, não resultado já obtido.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948"/>
          </a:solidFill>
          <a:ln w="12700">
            <a:solidFill>
              <a:srgbClr val="1A294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8716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716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gerado para o problema proposto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57055" y="402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263347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8096" y="1499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mensais integradas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2024-01 a 2026-06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55848" y="1335024"/>
            <a:ext cx="263347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75304" y="1499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7,28 mi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19751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AIHs conformadas e rastreáveis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75304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linhagem e SHA-256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63056" y="1335024"/>
            <a:ext cx="263347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82512" y="1499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+ 655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82512" y="19751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de saúde e hospitais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comparáveis entre si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70264" y="1335024"/>
            <a:ext cx="263347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89720" y="1499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89720" y="19751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em 8,4 mi de comparações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89720" y="23774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× camada Gold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2907792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" y="3108960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3204058"/>
            <a:ext cx="175565" cy="17556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07008" y="309067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de leitura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9808" y="356616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gestor localiza um sinal territorial e desce até o CID sem depender de extração manual em SQL a cada pergunta.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315968" y="2907792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517136" y="3108960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34" y="3204058"/>
            <a:ext cx="175565" cy="17556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974336" y="309067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Comparabilidade neutra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517136" y="356616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 como fonte comum permitem comparar hospitais e regiões sem depender do sistema interno de cada unidade.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8083296" y="2907792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4F8FC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8284464" y="3108960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2" y="3204058"/>
            <a:ext cx="175565" cy="17556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741664" y="309067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completa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284464" y="356616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número exibido tem fórmula, denominador, amostra e limite declarados — e um caminho de volta até o arquivo de origem.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548640" y="438912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38" name="Shape 33"/>
          <p:cNvSpPr/>
          <p:nvPr/>
        </p:nvSpPr>
        <p:spPr>
          <a:xfrm>
            <a:off x="749808" y="459028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6" y="4685386"/>
            <a:ext cx="175565" cy="17556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207008" y="457200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acesso zero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749808" y="504748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público navegável, sem licença de BI e sem infraestrutura adicional para o avaliador ou para a secretaria.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4315968" y="438912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43" name="Shape 37"/>
          <p:cNvSpPr/>
          <p:nvPr/>
        </p:nvSpPr>
        <p:spPr>
          <a:xfrm>
            <a:off x="4517136" y="459028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234" y="4685386"/>
            <a:ext cx="175565" cy="17556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4974336" y="457200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preservada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4517136" y="504748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leitura, CORS restrito, mTLS na administração e Select AI subordinado ao SQL de referência.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8083296" y="438912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7E3F2"/>
            </a:solidFill>
            <a:prstDash val="solid"/>
          </a:ln>
        </p:spPr>
        <p:txBody>
          <a:bodyPr/>
          <a:p/>
        </p:txBody>
      </p:sp>
      <p:sp>
        <p:nvSpPr>
          <p:cNvPr id="48" name="Shape 41"/>
          <p:cNvSpPr/>
          <p:nvPr/>
        </p:nvSpPr>
        <p:spPr>
          <a:xfrm>
            <a:off x="8284464" y="4590288"/>
            <a:ext cx="365760" cy="365760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562" y="4685386"/>
            <a:ext cx="175565" cy="175565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8741664" y="457200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reprocessável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8284464" y="504748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nova competência publicada pelo DATASUS, o pipeline reconstrói o recorte sem intervenção manual.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548640" y="641908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MedFlow  ·  Painel Inteligente de Acesso Hospitalar e Perfil de Atendimento  ·  Ômega Urban Tech  ·  Enterprise Challenge FIAP × Oracle 2026</a:t>
            </a:r>
            <a:endParaRPr lang="en-US" sz="750" dirty="0"/>
          </a:p>
        </p:txBody>
      </p:sp>
      <p:sp>
        <p:nvSpPr>
          <p:cNvPr id="53" name="Text 45"/>
          <p:cNvSpPr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9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206240"/>
            <a:ext cx="5120640" cy="5120640"/>
          </a:xfrm>
          <a:prstGeom prst="ellipse">
            <a:avLst/>
          </a:prstGeom>
          <a:solidFill>
            <a:srgbClr val="111C3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1737360"/>
            <a:ext cx="4206240" cy="4206240"/>
          </a:xfrm>
          <a:prstGeom prst="ellipse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86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que flui.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que transforma.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6583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MedFlow entrega um MVP público, auditável e tecnicamente reconciliado, que transforma dados administrativos do SUS em uma jornada de triagem — da região ao hospital, do hospital ao diagnóstico, do diagnóstico a uma hipótese documentada. Fizemos questão de delimitar com precisão o que ele prova e o que ainda não prova.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01952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01952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Oracle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55264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55264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08576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08576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visões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61888" y="3858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61888" y="42245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Select AI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71232" y="1115568"/>
            <a:ext cx="4069080" cy="3529584"/>
          </a:xfrm>
          <a:prstGeom prst="roundRect">
            <a:avLst>
              <a:gd name="adj" fmla="val 1554"/>
            </a:avLst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845552" y="1371600"/>
            <a:ext cx="457200" cy="457200"/>
          </a:xfrm>
          <a:prstGeom prst="ellipse">
            <a:avLst/>
          </a:prstGeom>
          <a:solidFill>
            <a:srgbClr val="1A2948"/>
          </a:solidFill>
          <a:ln/>
        </p:spPr>
        <p:txBody>
          <a:bodyPr/>
          <a:p/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4" y="1490472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45552" y="1920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Agradecimentos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45552" y="2322576"/>
            <a:ext cx="356616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Oracle, pelo desafio e pelo ambiente Autonomous AI Database que sustentou toda a camada de armazenamento e serving.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FIAP, ao professor tutor e ao scrum master, pela orientação ao longo das duas sprints.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DATASUS, ao Ministério da Saúde e ao IBGE, cujos dados abertos tornaram este projeto possível.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9144"/>
          </a:xfrm>
          <a:prstGeom prst="rect">
            <a:avLst/>
          </a:prstGeom>
          <a:solidFill>
            <a:srgbClr val="21314F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5303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Ômega Urban Tech  ·  Turma 1TSCOA  ·  Enterprise Challenge FIAP × Oracle 2026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5596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Oliveira · RM 571872    |    Leandro Lopes · RM 569353    |    Leandro Scutari · RM 568671    |    Lucas Lima · RM 572207    |    Pedro Padovan · RM 568683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48640" y="59253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A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github.com/Lucas-D-S-1/medflow    ·    lucas-d-s-1.github.io/medflow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FIAP x Oracle - Enterprise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MedFlow - Sprint 2 - Evidencias de Construcao</dc:title>
  <dc:subject>Painel Inteligente de Acesso Hospitalar e Perfil de Atendimento</dc:subject>
  <dc:creator>Omega Urban Tech - Turma 1TSCOA</dc:creator>
  <cp:lastModifiedBy>Omega Urban Tech - Turma 1TSCOA</cp:lastModifiedBy>
  <cp:revision>1</cp:revision>
  <dcterms:created xsi:type="dcterms:W3CDTF">2026-08-22T16:32:59Z</dcterms:created>
  <dcterms:modified xsi:type="dcterms:W3CDTF">2026-08-22T16:32:59Z</dcterms:modified>
</cp:coreProperties>
</file>