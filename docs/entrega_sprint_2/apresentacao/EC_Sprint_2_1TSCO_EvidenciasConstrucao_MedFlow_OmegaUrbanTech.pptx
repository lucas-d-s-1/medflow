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9" r:id="rId12"/>
    <p:sldId id="271" r:id="rId13"/>
    <p:sldId id="272" r:id="rId14"/>
    <p:sldId id="273" r:id="rId15"/>
    <p:sldId id="274" r:id="rId16"/>
    <p:sldId id="277" r:id="rId18"/>
    <p:sldId id="279" r:id="rId19"/>
    <p:sldId id="281" r:id="rId20"/>
    <p:sldId id="283" r:id="rId22"/>
    <p:sldId id="286" r:id="rId29"/>
    <p:sldId id="28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13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74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MedFlow é nome de marca (Med + Flow), não sigla. Sprint 2 do Enterprise Challenge FIAP x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cinco integrantes participaram da Sprint 2. As frentes refletem a divisão registrada em docs/entrega_sprint_2/CONTEXTO_TIME.md.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jornada região → hospital → especialidade/CID → hipótese é a estrutura conceitual do produto e organiza as quatro visões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jornada é a estrutura conceitual do produto: região, hospital, especialidade e CID, terminando numa hipótese verificável. Ela organiza as quatro visões do WebApp e é o percurso que o vídeo demonstra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 não substitui prontuário, regulação, censo de leitos, auditoria clínica ou conhecimento local. Isso é dito explicitamente na visão Metodologia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seis pontos são os diferenciais que sustentamos com evidência. Não alegamos superioridade sobre ferramentas existentes sem teste com usuários.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 relevante: saímos de Power BI para um WebApp próprio em React/Vite — o produto ficou público, sem licença de BI, e o link é navegável por qualquer avaliador.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Escopo negativo explícito. É uma escolha deliberada: preferimos um MVP menor e integralmente validado a um escopo maior com alegações não sustentadas.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end-to-end obrigatório da Sprint 2. Todo o fluxo principal está implementado — nenhuma caixa do caminho central é apenas planejada.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camada só consome a anterior. A Silver nunca lê arquivo bruto e a Gold nunca lê a Bronze — é isso que torna o pipeline reconstruível e auditável.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uso do Oracle não é decorativo: é o armazenamento, o serving e o ambiente do Select AI, tudo no mesmo perímetro governado.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cereja do bolo do desafio Oracle. Nosso diferencial é o controle: o Select AI é subordinado a um SQL de referência, não uma fonte autônoma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 quatro visões preservam o filtro na URL e distinguem ausência legítima, falha de endpoint e contingência — três estados que costumam ser confundidos em painéis. As duas telas ao lado são o produto público, capturadas do link que o avaliador abre.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obrigatório da Sprint 2. Preferimos declarar exatamente o que aplicamos a alegar modelos que não construímos.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indicador carrega o próprio limite ao lado da fórmula, e a faixa de baixo reúne as leituras que nenhum indicador isolado desautoriza. O IPH é o exemplo mais importante: é pressão estimada sobre capacidade declarada, nunca taxa de ocupação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pergunta é coloquial e não nomeia indicador nem tabela. A FlowIA responde Pediatria com 339 internações, a tabela do mesmo hospital e competência confirma o número, e o SQL fica a um clique. É a demonstração de que a narrativa não substitui a Gold: ela é conferível.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é o número mais forte da entrega — e também o que exige mais cuidado ao apresentar: é consistência técnica, não prova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feedback da Sprint 1 foi lido e endereçado é um diferencial de condução — o professor tutor reconhece o próprio comentário.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 entregue = o que o produto permite fazer hoje, com a evidência que temos. Impacto assistencial medido é o próximo passo, não uma alegação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Mensagem final: o MedFlow mostra que dados públicos, bem conformados e honestamente delimitados, já são suficientes para orientar onde investigar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 a pergunta da previsibilidade antes que a banca faça. A posição é decisão argumentada, não ausência: o dado administrativo é reapresentado, então previsão sobre ele seria precisão fingida. Comparação sazonal e benchmark entre pares respondem a mesma necessidade hoje.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1.folha.uol.com.br/equilibrioesaude/2026/05/ligaram-para-perguntar-se-eu-estava-viva-diz-mulher-que-espera-desde-2022-por-cirurgia-em-sao-paulo.shtml" TargetMode="External"/><Relationship Id="rId4" Type="http://schemas.openxmlformats.org/officeDocument/2006/relationships/hyperlink" Target="https://www.epsjv.fiocruz.br/noticias/reportagem/falta-de-integracao-e-distribuicao-das-bases-de-dados-fragiliza-sistemas-de" TargetMode="External"/><Relationship Id="rId5" Type="http://schemas.openxmlformats.org/officeDocument/2006/relationships/hyperlink" Target="https://www1.folha.uol.com.br/equilibrioesaude/2026/07/baixa-adesao-de-sp-a-sistema-do-sus-dificulta-monitoramento-nacional-das-filas-diz-tcu.s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920240"/>
            <a:ext cx="5852160" cy="585216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3931920"/>
            <a:ext cx="4023360" cy="402336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ENTERPRISE CHALLENGE 2026  ·  FIAP × ORACLE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95791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Painel Inteligente de Acesso Hospitalar e Perfil de Atendimento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1371600" cy="32004"/>
          </a:xfrm>
          <a:prstGeom prst="rect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327355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Sobre dados públicos do SUS, comparar hospitais e regiões entre pares elegíveis, com fórmula, amostra e limite ao lado de cada número — de um sinal regional até uma hipótese de investigação documentada.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24528"/>
            <a:ext cx="7680960" cy="1060704"/>
          </a:xfrm>
          <a:prstGeom prst="roundRect">
            <a:avLst>
              <a:gd name="adj" fmla="val 4310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41248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41248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2: MVP e apresentação final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36976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36976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1TSCOA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32704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32704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Ômega Urban Tech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504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 ·  Leandro Lopes  ·  Leandro Scutari  ·  Lucas Lima  ·  Pedro Padovan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579729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Entrega: 01/09/2026  ·  Recorte analítico: Estado de São Paulo, 2024-01 a 2026-06 (30 competências)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646920" y="2103120"/>
            <a:ext cx="1371600" cy="1371600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6" y="2459736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 missão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029200" cy="3063240"/>
          </a:xfrm>
          <a:prstGeom prst="roundRect">
            <a:avLst>
              <a:gd name="adj" fmla="val 1791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5179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COMPONENTES  ·  ordem alfabética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3360" y="18836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571872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" y="2286000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04672" y="23591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Lopes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2359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569353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2761488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23360" y="2834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568671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" y="3236976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3101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23360" y="33101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572207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" y="3712464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04672" y="3785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23360" y="37856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568683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581144"/>
            <a:ext cx="5029200" cy="932688"/>
          </a:xfrm>
          <a:prstGeom prst="roundRect">
            <a:avLst>
              <a:gd name="adj" fmla="val 588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04672" y="4718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 1TSCOA  ·  Tecnólogo em Data Science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498348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Representante de entrega: Leandro Scutari  ·  Framework: Scrum + Kanban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70448" y="13350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Frentes de trabalho na Sprint 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70448" y="171907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035040" y="181051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892" y="1910364"/>
            <a:ext cx="184343" cy="18434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547104" y="178308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Bronze: ingestão e preservação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547104" y="20025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870448" y="2377440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035040" y="2468880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4892" y="2568732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6547104" y="2441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Silver + Select AI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47104" y="26609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870448" y="3035808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6035040" y="3127248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892" y="3227100"/>
            <a:ext cx="184343" cy="184343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547104" y="309981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Gold: indicadores e marts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6547104" y="33192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870448" y="3694176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/>
          <p:cNvSpPr/>
          <p:nvPr/>
        </p:nvSpPr>
        <p:spPr>
          <a:xfrm>
            <a:off x="6035040" y="3785616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4892" y="3885468"/>
            <a:ext cx="184343" cy="184343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547104" y="375818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Backend Oracle, views e ORDS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6547104" y="39776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5870448" y="4352544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1"/>
          <p:cNvSpPr/>
          <p:nvPr/>
        </p:nvSpPr>
        <p:spPr>
          <a:xfrm>
            <a:off x="6035040" y="4443984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4892" y="4543836"/>
            <a:ext cx="184343" cy="184343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6547104" y="441655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Frontend React/Vite e publicação</a:t>
            </a:r>
            <a:endParaRPr lang="en-US" sz="1000" dirty="0"/>
          </a:p>
        </p:txBody>
      </p:sp>
      <p:sp>
        <p:nvSpPr>
          <p:cNvPr id="50" name="Text 43"/>
          <p:cNvSpPr/>
          <p:nvPr/>
        </p:nvSpPr>
        <p:spPr>
          <a:xfrm>
            <a:off x="6547104" y="46360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51" name="Shape 44"/>
          <p:cNvSpPr/>
          <p:nvPr/>
        </p:nvSpPr>
        <p:spPr>
          <a:xfrm>
            <a:off x="5870448" y="501091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5"/>
          <p:cNvSpPr/>
          <p:nvPr/>
        </p:nvSpPr>
        <p:spPr>
          <a:xfrm>
            <a:off x="6035040" y="510235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4892" y="5202204"/>
            <a:ext cx="184343" cy="184343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6547104" y="507492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Vídeo pitch e apresentação final</a:t>
            </a:r>
            <a:endParaRPr lang="en-US" sz="1000" dirty="0"/>
          </a:p>
        </p:txBody>
      </p:sp>
      <p:sp>
        <p:nvSpPr>
          <p:cNvPr id="55" name="Text 47"/>
          <p:cNvSpPr/>
          <p:nvPr/>
        </p:nvSpPr>
        <p:spPr>
          <a:xfrm>
            <a:off x="6547104" y="52943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· Pedro · Leandro Lopes</a:t>
            </a:r>
            <a:endParaRPr lang="en-US" sz="850" dirty="0"/>
          </a:p>
        </p:txBody>
      </p:sp>
      <p:sp>
        <p:nvSpPr>
          <p:cNvPr id="56" name="Text 4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7" name="Text 4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Rectangle 47"/>
          <p:cNvSpPr/>
          <p:nvPr/>
        </p:nvSpPr>
        <p:spPr>
          <a:xfrm>
            <a:off x="5815584" y="1353312"/>
            <a:ext cx="10972" cy="435254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1353312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A FILA TEM ROSTO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664208"/>
            <a:ext cx="4754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1A2948"/>
                </a:solidFill>
                <a:latin typeface="Aptos"/>
              </a:rPr>
              <a:t>149 mil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468172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2D3748"/>
                </a:solidFill>
                <a:latin typeface="Aptos"/>
              </a:rPr>
              <a:t>pessoas aguardavam procedimentos eletivos na cidade de São Paulo.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063240"/>
            <a:ext cx="658368" cy="22860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8640" y="3291840"/>
            <a:ext cx="468172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“Ligaram para perguntar se eu estava viva.”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18795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718096"/>
                </a:solidFill>
                <a:latin typeface="Aptos"/>
              </a:rPr>
              <a:t>A paciente tinha indicação cirúrgica desde dezembro de 2022.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4901184"/>
            <a:ext cx="4480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3"/>
              </a:rPr>
              <a:t>FOLHA DE S.PAULO  ·  20 MAI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13533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O DESAFIO DA GESTÃO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1682496"/>
            <a:ext cx="532180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O caso aparece.
O padrão precisa ser construído.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2578608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718096"/>
                </a:solidFill>
                <a:latin typeface="Aptos"/>
              </a:rPr>
              <a:t>Internações, leitos, diagnósticos, permanência e deslocamentos são publicados em bases e recortes diferentes.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383280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A2948"/>
                </a:solidFill>
                <a:latin typeface="Aptos"/>
              </a:rPr>
              <a:t>PARA AGIR ANTES, É PRECISO ENXERGAR: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08" y="3749039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11696" y="37307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onde o sinal se concentra;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1696" y="4096511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36208" y="4215383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1696" y="419709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há quanto tempo ele existe;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11696" y="4562855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68172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663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quais hospitais ou especialidades fogem do histórico;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11696" y="5029199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36208" y="5148071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11696" y="5129783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contra quais pares a comparação é válida.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5504688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4"/>
              </a:rPr>
              <a:t>FIOCRUZ · 12 ABR 2022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94192" y="550468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5"/>
              </a:rPr>
              <a:t>FOLHA / TCU · 21 JUL 2026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879592"/>
            <a:ext cx="11091672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" y="5980176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É aqui que o MedFlow começa: do caso isolado à leitura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jornada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9" name="TextBox 48"/>
          <p:cNvSpPr txBox="1"/>
          <p:nvPr/>
        </p:nvSpPr>
        <p:spPr>
          <a:xfrm>
            <a:off x="548640" y="137160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Existe um padrão territorial ou hospitalar por trás desta espera?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15584" y="2340864"/>
            <a:ext cx="10972" cy="2505456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2267712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SEM MEDFLOW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22677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COM MEDFLOW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Encontrar o recorte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Descobrir quais bases conectam região, hospitais e especialidade.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6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Construir a comparação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Conciliar períodos, histórico, amostras e critérios de pares.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416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8640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2416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Formular uma hipótese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" y="4544568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Consolidar planilhas antes de levar uma pergunta à equipe local.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9984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Perguntar com contexto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9984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A FlowIA usa a competência e a região selecionadas para consultar a Gold.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29984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6208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9984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Seguir o sinal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9984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O gestor abre os hospitais encontrados e aprofunda o perfil por especialidade.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29984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236208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9984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Comparar corretamente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9984" y="4544568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000" b="0">
                <a:solidFill>
                  <a:srgbClr val="718096"/>
                </a:solidFill>
                <a:latin typeface="Aptos"/>
              </a:rPr>
              <a:t>Permanência por especialidade contra outros hospitais da região; indicadores gerais contra hospitais do mesmo porte.</a:t>
            </a:r>
            <a:endParaRPr sz="1000" b="0">
              <a:solidFill>
                <a:srgbClr val="718096"/>
              </a:solidFill>
              <a:latin typeface="Calibri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48640" y="5184648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86384" y="5340096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FLOWIA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72768" y="5285232"/>
            <a:ext cx="7498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“Nesta região, quais hospitais concentram internações em cirurgia?”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54312" y="5340096"/>
            <a:ext cx="1975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Resposta com SQL auditável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599846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dirty="0" err="1">
                <a:solidFill>
                  <a:srgbClr val="1A2948"/>
                </a:solidFill>
                <a:latin typeface="Aptos"/>
              </a:rPr>
              <a:t>Resultado: uma hipótese verificável para levar à equipe local, que segue dona da conclusão.</a:t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6" name="Text 2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7" name="TextBox 36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948"/>
                </a:solidFill>
                <a:latin typeface="Aptos"/>
              </a:rPr>
              <a:t>A persona principal é o gestor ou analista regional de saúde de São Paulo. O mesmo sinal ganha valor quando ele, os hospitais e as equipes técnicas partem do mesmo contexto.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1810512"/>
            <a:ext cx="11091672" cy="694944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" y="197510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JUNDIAÍ · PEDIATRIA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7792" y="1901952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Aptos"/>
              </a:rPr>
              <a:t>75,7%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1956816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FFFFFF"/>
                </a:solidFill>
                <a:latin typeface="Aptos"/>
              </a:rPr>
              <a:t>das internações observadas em uma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5" y="1911095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5,11 dias × 3,09 dias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19659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DB0C8"/>
                </a:solidFill>
                <a:latin typeface="Aptos"/>
              </a:rPr>
              <a:t>hospital × referência regional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2770632"/>
            <a:ext cx="4983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770632"/>
            <a:ext cx="5394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15584" y="2743200"/>
            <a:ext cx="10972" cy="243230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Descobre o problema pelo telefone, não pelo dado, e pede novos recortes antes de saber onde aprofundar.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Recebe números isolados, sem uma referência comum.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Refaz extrações e concilia definições para cada pergunta.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4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9984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Localiza região, unidade e especialidade no mesmo percurso.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9984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36208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9984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9984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Enxerga participação regional, histórico e referência.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9984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9984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9984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Trabalha sobre a mesma Gold, API e SQL auditável.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32180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Benefício indireto: a população do SUS participa de decisões mais bem contextualizadas; o impacto assistencial ainda não foi medido.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797296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8640" y="5888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55648" y="5861304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Gold: camada final que persiste os indicadores. · API: interface que entrega dados ao produto. · SQL: linguagem usada para consultar o banco.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Proposta de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diferencial é comparar hospitais e regiões entre pares elegíveis, com fórmula, amostra e limite ao lado de cada número. Antes, cada pergunta exigia cruzar bases, períodos e critérios de novo. Com o MedFlow, a competência processada abre uma jornada única: localizar o sinal, aprofundar o hospital e comparar o recorte certo. As fontes são conformadas uma vez, os indicadores ficam persistidos na Gold e a API serve os valores prontos.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68096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8" y="2450226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8096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Integração reproduzível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SIH/RD relacional, CNES/LT em JSON e IBGE em CSV por External Table, num pipeline com linhagem, manifesto e SHA-256.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315968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4535424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4786" y="2450226"/>
            <a:ext cx="201900" cy="201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35424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Separação conceitual explícita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35424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Residência, produção e deslocamento nunca se misturam: cada indicador declara seu denominador.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083296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8302752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114" y="2450226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02752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Continuidade analítica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02752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mesmo sinal é perseguido de região a hospital, especialidade e CID, sem trocar de ferramenta.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48640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8096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458" y="4242450"/>
            <a:ext cx="201900" cy="2019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 que exclui o próprio hospital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68096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referência regional por CID é calculada sem a unidade avaliada, evitando autocomparação.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4315968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2"/>
          <p:cNvSpPr/>
          <p:nvPr/>
        </p:nvSpPr>
        <p:spPr>
          <a:xfrm>
            <a:off x="4535424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4786" y="4242450"/>
            <a:ext cx="201900" cy="2019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35424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a fonte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4535424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Fórmulas, denominadores, amostras, estados nulos e limites ficam próximos ao dado exibido.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083296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26"/>
          <p:cNvSpPr/>
          <p:nvPr/>
        </p:nvSpPr>
        <p:spPr>
          <a:xfrm>
            <a:off x="8302752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114" y="4242450"/>
            <a:ext cx="201900" cy="20190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302752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Linguagem natural governada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8302752" y="496555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FlowIA roteia definições para respostas rápidas e envia perguntas analíticas ao Select AI, com contexto, SQL somente leitura e auditoria.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Diferenciais defensáveis registrados no dossiê técnico do projeto: cada um deles tem evidência correspondente no repositório.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9" name="Text 3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Evolução da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950208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Planejado na Sprint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Entregue na Sprint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Recorte temporal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2022 a 2023 · 24 meses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2024-01 a 2026-06 · 30 competências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Ingestão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ETL Python + pysus, saída em Parquet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Bronze/Silver/Gold com linhagem, manifesto e SHA-256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Armazenamento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DB (previsto)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AI Database 26ai Lakehouse, schema MEDFLOW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previsto na Sprint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10 endpoints GET e o POST do assistente no módulo público api/v1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Visualização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Power BI ou Oracle Analytics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WebApp React 19 + TypeScript + Vite, duas páginas e quatro visões, no GitHub Pages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MUDOU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IA generativa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Select AI previsto, sem profile nem 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Profile MEDFLOW_GENAI, roteiro Select AI validado e assistente FlowIA no produto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5 índices (IPH, IPR, IS, TMH, CMI)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6 índices com o IPE, mais fluxos, ICSAP, taxas populacionais e CMI real por IPCA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formalizada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8.403.103 comparações campo a campo, zero divergências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81558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Referências antigas a 2022 a 2023, 669 hospitais ou 5,21 mi de internações descrevem o estado histórico da Sprint 1, não o produto atual.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MVP implementado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486400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322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1572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DENTRO DO MVP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59536" y="22128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78992" y="21031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Triagem mensal territorial e hospitalar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78992" y="23317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 competências reprocessáveis, de 2024-01 a 2026-06.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59536" y="276148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1078992" y="26517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Duas páginas navegáveis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78992" y="288036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contínua com território e hospital, mais a Metodologia; recorte na URL.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859536" y="331012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78992" y="32004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indicadores calculados e persistidos na Gold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78992" y="342900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frontend apenas apresenta e formata: nunca recalcula.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59536" y="385876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078992" y="3749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API pública somente leitura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78992" y="3977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 endpoints GET e o POST do assistente, publicados por ORDS em api/v1.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59536" y="440740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078992" y="42976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fonte, contrato e fórmula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78992" y="452628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Cobertura, cortes, flags e estados nulos documentados na aplicação.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59536" y="49560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078992" y="48463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Assistente FlowIA com IA generativa governada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78992" y="50749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sobre o schema MEDFLOW, com SQL auditável e memória de conversa.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309360" y="1335024"/>
            <a:ext cx="5330952" cy="4133088"/>
          </a:xfrm>
          <a:prstGeom prst="roundRect">
            <a:avLst>
              <a:gd name="adj" fmla="val 13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583680" y="155448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042" y="1663842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7114032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FORA DO MVP: SEM ALEGAÇÃO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620256" y="21396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858000" y="213969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Tempo real, previsão, machine learning ou clustering preditivo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6620256" y="250088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858000" y="250088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Decisão ou prescrição automática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6620256" y="286207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858000" y="286207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Ocupação real e disponibilidade operacional de leitos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620256" y="32232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6858000" y="32232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 contábil completo ou margem hospitalar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6620256" y="358444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6858000" y="3584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Ajuste de risco clínico e inferência causal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6620256" y="394563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858000" y="394563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Prontuário, regulação ou análise individual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20256" y="430682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858000" y="4306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Residentes paulistas internados fora do estado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6620256" y="46680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6858000" y="466801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Prova de impacto, adoção ou ganho de produtividade</a:t>
            </a:r>
            <a:endParaRPr lang="en-US" sz="950" dirty="0"/>
          </a:p>
        </p:txBody>
      </p:sp>
      <p:sp>
        <p:nvSpPr>
          <p:cNvPr id="48" name="Text 44"/>
          <p:cNvSpPr/>
          <p:nvPr/>
        </p:nvSpPr>
        <p:spPr>
          <a:xfrm>
            <a:off x="6620256" y="50292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6858000" y="502920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Power BI ou qualquer licença de BI proprietária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548640" y="566928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Delimitar o que o MVP não faz é parte da entrega: cada limite acima aparece também na visão Metodologia da aplicação.</a:t>
            </a:r>
            <a:endParaRPr lang="en-US" sz="800" dirty="0"/>
          </a:p>
        </p:txBody>
      </p:sp>
      <p:sp>
        <p:nvSpPr>
          <p:cNvPr id="51" name="Text 47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2" name="Text 48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51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52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948"/>
                </a:solidFill>
                <a:latin typeface="Aptos"/>
              </a:rPr>
              <a:t>Antes, cada pergunta exige recombinar fontes e definições. Com o MedFlow, toda investigação percorre a mesma cadeia de dados.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18470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8840" y="1810512"/>
            <a:ext cx="94914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18096"/>
                </a:solidFill>
                <a:latin typeface="Aptos"/>
              </a:rPr>
              <a:t>SIH/SUS  ·  CNES  ·  DATASUS  ·  IBGE   →   cruzamentos refeitos para cada pergunta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2176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8640" y="235000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9494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FONTES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494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dados públicos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494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origem identificada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94560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5728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542032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032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BRONZE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42032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preserva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42032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arquivo + linhagem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41648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42816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389120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SILVER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0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harmoniza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tipos + domínios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88736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089904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236208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36208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GOLD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calcula uma vez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36208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indicador + amostra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35823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36992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083296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83296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ORACLE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83296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armazena e serve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83296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12 tabelas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82911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84080" y="2688336"/>
            <a:ext cx="1627632" cy="1353312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93038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3038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Aptos"/>
              </a:rPr>
              <a:t>PRODUTO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FFFFFF"/>
                </a:solidFill>
                <a:latin typeface="Aptos"/>
              </a:rPr>
              <a:t>mostra e pergunta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3038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ORDS · WebApp · FlowIA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8640" y="4297680"/>
            <a:ext cx="1109167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786384" y="451713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UMA MESMA VERDADE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14016" y="446227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>
                <a:solidFill>
                  <a:srgbClr val="1A2948"/>
                </a:solidFill>
                <a:latin typeface="Aptos"/>
              </a:rPr>
              <a:t>A tela, a API e a FlowIA não recalculam indicadores: todas consomem os valores persistidos na Gold.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52395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12 tabelas no Oracle · 11 endpoints públicos · 10 snapshots de contingência identificados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565099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8640" y="5742431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755648" y="5715000"/>
            <a:ext cx="98846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SIH/SUS: Sistema de Informações Hospitalares, fonte das AIHs. · CNES: Cadastro Nacional de Estabelecimentos de Saúde, fonte dos leitos. · Bronze/Silver/Gold: preservam, harmonizam e calculam. · ORDS: publica o Oracle como API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 de dados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1792224"/>
            <a:ext cx="3566160" cy="329184"/>
          </a:xfrm>
          <a:prstGeom prst="rect">
            <a:avLst/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6384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1" y="1631655"/>
            <a:ext cx="193121" cy="1931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98448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98448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Preservar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6384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86384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Descoberta de competências, download com cache incremental, conversão fiel para Parquet, linhagem técnica, manifesto e SHA-256. Nenhuma regra de negócio.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86384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7.284.476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SIH/RD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86384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251.457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CNES/LT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86384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6384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Mantém proveniência, permite auditoria e torna o processo reconstruível.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315968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4315968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4315968" y="1792224"/>
            <a:ext cx="3566160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2"/>
          <p:cNvSpPr/>
          <p:nvPr/>
        </p:nvSpPr>
        <p:spPr>
          <a:xfrm>
            <a:off x="4553712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319" y="1631655"/>
            <a:ext cx="193121" cy="193121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065776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65776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Conformar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4553712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553712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Tipagem, nomes canônicos, de/paras documentados, chaves, geografia e qualidade. Separa AIH aprovada, internação nova (IDENT=1) e continuação (IDENT=5).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4553712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4553712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 + 2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4553712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dimensões e fatos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53712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19.341</a:t>
            </a:r>
            <a:endParaRPr lang="en-US" sz="1500" dirty="0"/>
          </a:p>
        </p:txBody>
      </p:sp>
      <p:sp>
        <p:nvSpPr>
          <p:cNvPr id="35" name="Text 31"/>
          <p:cNvSpPr/>
          <p:nvPr/>
        </p:nvSpPr>
        <p:spPr>
          <a:xfrm>
            <a:off x="4553712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fato leito mensal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4553712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3"/>
          <p:cNvSpPr/>
          <p:nvPr/>
        </p:nvSpPr>
        <p:spPr>
          <a:xfrm>
            <a:off x="4553712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Cria linguagem comum e evita limpeza ou joins divergentes por indicador.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8083296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8083296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6"/>
          <p:cNvSpPr/>
          <p:nvPr/>
        </p:nvSpPr>
        <p:spPr>
          <a:xfrm>
            <a:off x="8083296" y="1792224"/>
            <a:ext cx="3566160" cy="329184"/>
          </a:xfrm>
          <a:prstGeom prst="rect">
            <a:avLst/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7"/>
          <p:cNvSpPr/>
          <p:nvPr/>
        </p:nvSpPr>
        <p:spPr>
          <a:xfrm>
            <a:off x="8321040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647" y="1631655"/>
            <a:ext cx="193121" cy="193121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8833104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8833104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Calcular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8321040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8321040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Sete marts, um grão de análise cada: hospital, hospital/especialidade, hospital/CID, região mensal e por período, fluxos e ICSAP. Fórmulas, denominadores, amostras, benchmarks, correção por IPCA e agregações geográficas, a partir apenas de estruturas contratadas da Silver.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8321040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8321040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9" name="Text 44"/>
          <p:cNvSpPr/>
          <p:nvPr/>
        </p:nvSpPr>
        <p:spPr>
          <a:xfrm>
            <a:off x="8321040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no Oracle: 5 dimensões e 7 marts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8321040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1500" dirty="0"/>
          </a:p>
        </p:txBody>
      </p:sp>
      <p:sp>
        <p:nvSpPr>
          <p:cNvPr id="51" name="Text 46"/>
          <p:cNvSpPr/>
          <p:nvPr/>
        </p:nvSpPr>
        <p:spPr>
          <a:xfrm>
            <a:off x="8321040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no Oracle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8321040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8321040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Fonte semântica única do banco, da API e das telas: cada coluna tem comentário no schema, e indicador nenhum é recalculado depois daqui.</a:t>
            </a:r>
            <a:endParaRPr lang="en-US" sz="850" dirty="0"/>
          </a:p>
        </p:txBody>
      </p:sp>
      <p:sp>
        <p:nvSpPr>
          <p:cNvPr id="54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56" name="Rectangle 55"/>
          <p:cNvSpPr/>
          <p:nvPr/>
        </p:nvSpPr>
        <p:spPr>
          <a:xfrm>
            <a:off x="548640" y="5852160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94360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TRÊS FORMATOS, TRÊS PAPÉIS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5916168"/>
            <a:ext cx="903427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Relacional — SIH/RD e as tabelas Gold sustentam fatos, dimensões, indicadores e consultas.   ·   JSON — a API do CNES entrega o cadastro do estabelecimento e os atributos que variam por competência.   ·   CSV / External Table — regiões de saúde e população IBGE 2022 entram no Oracle e sustentam as taxas populacionais.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Armazenamento e API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3949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04672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35024" y="15544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e modelo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24128" y="2121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Autonomous AI Database 26ai, workload Lakehouse, região de São Paulo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" y="248716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24128" y="23957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MEDFLOW com conexão mTLS obrigatória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41248" y="276148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24128" y="26700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 de aplicação MEDFLOW, separado do usuário ADMIN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24128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Views de projeção pura: nenhum indicador é recalculado no banco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1248" y="331012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024128" y="32186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Nenhuma tabela por AutoREST: api/v1 expõe 10 GET e 1 POST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712464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804672" y="3913632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034" y="4022994"/>
            <a:ext cx="201900" cy="2019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35024" y="391363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Segurança e governança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841248" y="4526280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1024128" y="44439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Módulo público somente leitura; CORS restrito à origem do GitHub Pages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41248" y="4782312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1024128" y="47000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Conexão administrativa por mTLS; wallet, senhas e .env fora do Git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41248" y="5038344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024128" y="4956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por OCI Resource Principal: sem chave externa no código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41248" y="5294376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1024128" y="52120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testes verificam OpenAPI, SQL dos handlers e respostas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841248" y="5550408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1024128" y="54681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Ausência legítima, parâmetro inválido, erro e indisponibilidade são estados distintos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17920" y="1335024"/>
            <a:ext cx="5422392" cy="4389120"/>
          </a:xfrm>
          <a:prstGeom prst="roundRect">
            <a:avLst>
              <a:gd name="adj" fmla="val 125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6492240" y="15910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 DE CARGA E INTEGRIDADE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6492240" y="19019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47 / 47</a:t>
            </a:r>
            <a:endParaRPr lang="en-US" sz="2400" dirty="0"/>
          </a:p>
        </p:txBody>
      </p:sp>
      <p:sp>
        <p:nvSpPr>
          <p:cNvPr id="37" name="Text 33"/>
          <p:cNvSpPr/>
          <p:nvPr/>
        </p:nvSpPr>
        <p:spPr>
          <a:xfrm>
            <a:off x="6492240" y="2304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portões do gate Oracle com estado ok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492240" y="2633472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5"/>
          <p:cNvSpPr/>
          <p:nvPr/>
        </p:nvSpPr>
        <p:spPr>
          <a:xfrm>
            <a:off x="6492240" y="27432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6"/>
          <p:cNvSpPr/>
          <p:nvPr/>
        </p:nvSpPr>
        <p:spPr>
          <a:xfrm>
            <a:off x="6492240" y="3145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gates de integridade retornando vazio, como esperado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6492240" y="3474720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8"/>
          <p:cNvSpPr/>
          <p:nvPr/>
        </p:nvSpPr>
        <p:spPr>
          <a:xfrm>
            <a:off x="6492240" y="35844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2400" dirty="0"/>
          </a:p>
        </p:txBody>
      </p:sp>
      <p:sp>
        <p:nvSpPr>
          <p:cNvPr id="43" name="Text 39"/>
          <p:cNvSpPr/>
          <p:nvPr/>
        </p:nvSpPr>
        <p:spPr>
          <a:xfrm>
            <a:off x="6492240" y="39867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nas 12 tabelas do recorte vigente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492240" y="431596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1"/>
          <p:cNvSpPr/>
          <p:nvPr/>
        </p:nvSpPr>
        <p:spPr>
          <a:xfrm>
            <a:off x="6492240" y="442569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46" name="Text 42"/>
          <p:cNvSpPr/>
          <p:nvPr/>
        </p:nvSpPr>
        <p:spPr>
          <a:xfrm>
            <a:off x="6492240" y="4828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divergências entre o conteúdo servido e a camada Gold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6492240" y="513892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4"/>
          <p:cNvSpPr/>
          <p:nvPr/>
        </p:nvSpPr>
        <p:spPr>
          <a:xfrm>
            <a:off x="6492240" y="52486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plano Always Free pode hibernar por inatividade. A conferência de apresentação roda em um comando e checa conexão, contrato, competência, os endpoints e o link público: 12 de 12 na última execução.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0" name="Text 4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Diferencial Oracle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6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6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A FlowIA decide o caminho antes de usar o modelo. Só perguntas analíticas viram consulta ao Oracle.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1773936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6384" y="1938528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NO PRODUTO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9152" y="1874519"/>
            <a:ext cx="3858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“o que mais interna nesse hospital?”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7376" y="1938528"/>
            <a:ext cx="48646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B9C7DA"/>
                </a:solidFill>
                <a:latin typeface="Aptos"/>
              </a:rPr>
              <a:t>HU Jundiaí  ·  CNES 3012212  ·  06/2026  ·  visão hospitalar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60904"/>
            <a:ext cx="3328416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49808" y="283464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REGRA DO PRODUTO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30815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Resposta rápida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8" y="340156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Definições, fórmulas e critérios seguem um fast path determinístico no frontend, sem modelo e sem consumir cota.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808" y="3803904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“O que é IPE?”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96512" y="2660904"/>
            <a:ext cx="3986784" cy="1371600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297680" y="2834640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ANALÍTICA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0" y="3081528"/>
            <a:ext cx="35844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ptos"/>
              </a:rPr>
              <a:t>Consulta governada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0" y="3401568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CFDAE8"/>
                </a:solidFill>
                <a:latin typeface="Aptos"/>
              </a:rPr>
              <a:t>Rankings, recortes e comparações recebem contexto, geram SQL somente leitura e consultam a Gold.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7680" y="3803904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DB0C8"/>
                </a:solidFill>
                <a:latin typeface="Aptos"/>
              </a:rPr>
              <a:t>Exemplo: a pergunta acima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47888" y="2660904"/>
            <a:ext cx="3392424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449056" y="2834640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FORA DO CONTRATO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49056" y="3081528"/>
            <a:ext cx="2990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Recusa controlada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49056" y="3401568"/>
            <a:ext cx="29900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Tempo real, qualidade, prescrição e causalidade não viram query. A FlowIA explica o limite e oferece um indicador válido.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49056" y="3803904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“Qual é o pior hospital?”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43068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QUANDO VIRA QUERY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7665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8407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INTENT ROUTING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classifica a intenção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95728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523744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25496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CONTEXT INJECTION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23744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tela + 2 rodadas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242816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4370831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72583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SCHEMA GROUNDING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0831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profile + prompt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89904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217920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19672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SHOWSQL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gera SQL inspecionável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36992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065008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66760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SQL GUARDRAIL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65008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SELECT/WITH + regras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78408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91209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3848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NARRATE + AUDIT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91209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responde e registra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5449824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20 de 20 casos aprovados no consolidado, com comparação contra SQL de referência. Uma rodada única dos 20 permanece como revalidação final.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" y="574243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48640" y="583387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55648" y="5806440"/>
            <a:ext cx="9884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Fast path: resposta determinística sem modelo. · showsql: gera o SQL antes da narrativa. · narrate: descreve o resultado da consulta. · Guardrail: regra automática que bloqueia consultas fora do contrato.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5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6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57" name="TextBox 56"/>
          <p:cNvSpPr txBox="1"/>
          <p:nvPr/>
        </p:nvSpPr>
        <p:spPr>
          <a:xfrm>
            <a:off x="548640" y="1316736"/>
            <a:ext cx="110916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D3748"/>
                </a:solidFill>
                <a:latin typeface="Aptos"/>
              </a:rPr>
              <a:t>React 19 + TypeScript + Vite, publicado no GitHub Pages. Duas páginas e quatro visões, servidas pela API: as telas apenas apresentam e formatam, nunca recalculam.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808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Território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Onde existe um sinal que merece investigação?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92424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93592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Pares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3592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Este número é alto para um hospital deste porte?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36207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37375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Hospital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7375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Onde o sinal se concentra: unidade, especialidade ou CID?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79992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81160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Metodologia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81160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Qual é a origem do número e quais são seus limites?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2688336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TERRITÓRIO  ·  ONDE OLHAR PRIMEIRO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2688336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HOSPITAL  ·  O NÚMERO GANHA UMA RÉGUA</a:t>
            </a:r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8915" y="2926080"/>
            <a:ext cx="3714409" cy="235915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5453" y="2926080"/>
            <a:ext cx="4036468" cy="235915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48640" y="5449824"/>
            <a:ext cx="5394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Mapa das 62 regiões pelo placar de sinais: o gestor vê de longe onde há sinal fora do padrão, e a legenda diz que é placar para priorizar investigação, não nota de qualidade.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5449824"/>
            <a:ext cx="5394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Faixa interquartil, mediana e posição entre pares do mesmo porte, na mesma região, com o critério escrito e os pares nomeados. O porte é o que torna a comparação justa.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 origem aparece na interface: “Oracle ao vivo” quando a API responde e “Snapshot de contingência” quando não. As duas fontes nunca são misturadas.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Modelos e técnicas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49808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1631290"/>
            <a:ext cx="175565" cy="1755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exploratória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Perfil das fontes, distribuições, valores ausentes, domínios e outliers antes de qualquer regra de negócio.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15968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517136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234" y="1631290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74336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Modelagem dimensional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517136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dimensões e dois fatos na Silver; dimensões geográficas e sete marts na Gold, com grão declarado.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8083296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8284464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562" y="1631290"/>
            <a:ext cx="175565" cy="1755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41664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Séries mensais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84464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Trinta competências por região e hospital, sustentando tendência e leitura temporal.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548640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749808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6" y="3039466"/>
            <a:ext cx="175565" cy="17556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07008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Comparação sazonal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749808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Índice de Sazonalidade compara cada mês de 2026 com a média do mesmo mês em 2024 e 2025.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315968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4517136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234" y="3039466"/>
            <a:ext cx="175565" cy="17556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974336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Benchmarking com elegibilidade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4517136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 regional por CID que exclui o próprio hospital, com cortes mínimos de amostra.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8083296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5"/>
          <p:cNvSpPr/>
          <p:nvPr/>
        </p:nvSpPr>
        <p:spPr>
          <a:xfrm>
            <a:off x="8284464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9562" y="3039466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741664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Matriz origem e destino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8284464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Fluxo assistencial entre região de residência e região de atendimento, com participações reconciliadas.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548640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29"/>
          <p:cNvSpPr/>
          <p:nvPr/>
        </p:nvSpPr>
        <p:spPr>
          <a:xfrm>
            <a:off x="749808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906" y="4447642"/>
            <a:ext cx="175565" cy="17556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207008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Classificação normativa ICSAP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749808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CIDs classificados pela Portaria 221/2008 em 19 grupos oficiais.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4315968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3"/>
          <p:cNvSpPr/>
          <p:nvPr/>
        </p:nvSpPr>
        <p:spPr>
          <a:xfrm>
            <a:off x="4517136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2234" y="4447642"/>
            <a:ext cx="175565" cy="175565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4974336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Correção monetária</a:t>
            </a:r>
            <a:endParaRPr lang="en-US" sz="1050" dirty="0"/>
          </a:p>
        </p:txBody>
      </p:sp>
      <p:sp>
        <p:nvSpPr>
          <p:cNvPr id="45" name="Text 35"/>
          <p:cNvSpPr/>
          <p:nvPr/>
        </p:nvSpPr>
        <p:spPr>
          <a:xfrm>
            <a:off x="4517136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CMI real obtido pela aplicação do fator IPCA sobre o valor aprovado, com competência de preço registrada.</a:t>
            </a:r>
            <a:endParaRPr lang="en-US" sz="850" dirty="0"/>
          </a:p>
        </p:txBody>
      </p:sp>
      <p:sp>
        <p:nvSpPr>
          <p:cNvPr id="46" name="Shape 36"/>
          <p:cNvSpPr/>
          <p:nvPr/>
        </p:nvSpPr>
        <p:spPr>
          <a:xfrm>
            <a:off x="8083296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37"/>
          <p:cNvSpPr/>
          <p:nvPr/>
        </p:nvSpPr>
        <p:spPr>
          <a:xfrm>
            <a:off x="8284464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9562" y="4447642"/>
            <a:ext cx="175565" cy="175565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8741664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reconciliação</a:t>
            </a:r>
            <a:endParaRPr lang="en-US" sz="1050" dirty="0"/>
          </a:p>
        </p:txBody>
      </p:sp>
      <p:sp>
        <p:nvSpPr>
          <p:cNvPr id="50" name="Text 39"/>
          <p:cNvSpPr/>
          <p:nvPr/>
        </p:nvSpPr>
        <p:spPr>
          <a:xfrm>
            <a:off x="8284464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Schemas, colunas, fórmulas e invariantes verificados camada a camada e campo a campo.</a:t>
            </a:r>
            <a:endParaRPr lang="en-US" sz="850" dirty="0"/>
          </a:p>
        </p:txBody>
      </p:sp>
      <p:sp>
        <p:nvSpPr>
          <p:cNvPr id="51" name="Shape 40"/>
          <p:cNvSpPr/>
          <p:nvPr/>
        </p:nvSpPr>
        <p:spPr>
          <a:xfrm>
            <a:off x="548640" y="550468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41"/>
          <p:cNvSpPr/>
          <p:nvPr/>
        </p:nvSpPr>
        <p:spPr>
          <a:xfrm>
            <a:off x="841248" y="559612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NÃO FAZEM PARTE DO MVP:   </a:t>
            </a:r>
            <a:r>
              <a:rPr lang="en-US" sz="95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machine learning, clustering preditivo, previsão, inferência causal ou IA decisória. As técnicas são exploratórias, dimensionais e comparativas.</a:t>
            </a:r>
            <a:endParaRPr lang="en-US" sz="850" dirty="0"/>
          </a:p>
        </p:txBody>
      </p:sp>
      <p:sp>
        <p:nvSpPr>
          <p:cNvPr id="53" name="Text 4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4" name="Text 4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Indicadores e limites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575304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82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Uso analítico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Limite declarado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Pressão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Pacientes-dia reconstruídos ÷ leitos-dia SUS declarados, expresso em percentual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Localiza pressão estimada ou incompatibilidade em hospital e região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ocupação real; leitos são capacidade declarada mensal. Valores acima de 100% são mantidos como sinal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TMH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Taxa de Mortalidade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Óbitos em internações novas ÷ internações novas × 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série, especialidade e pares quando há amostra suficiente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Sem ajuste de risco; não prova causalidade nem qualidade assistencial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Permanência Relativa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 hospital/CID ÷ permanência média regional do mesmo CID, excluído o próprio hospital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 o diagnóstico contra um benchmark elegível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Exige 20 internações no hospital/CID e benchmark de 50 internações em ao menos 3 hospitais; case mix pode diferir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CMI nominal e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médio aprovado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aprovado das internações novas ÷ internações novas; a versão real aplica o fator IPCA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Contextualiza valor administrativo por hospital, especialidade, região e período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custo contábil, custo completo ou margem hospitalar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Sazonalidade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Internações novas do mês de 2026 ÷ média do mesmo mês em 2024 e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o mês atual com dois anos-base equivalentes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É comparação sazonal curta, não previsão nem modelo definitivo; 2026 é parcial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Soma dos dias de permanência ÷ internações novas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Descreve uso administrativo de recursos e sustenta o IPR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Sofre influência do perfil de casos; não é desfecho de qualidade isolado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21" name="Rectangle 20"/>
          <p:cNvSpPr/>
          <p:nvPr/>
        </p:nvSpPr>
        <p:spPr>
          <a:xfrm>
            <a:off x="548640" y="5047488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5721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O QUE NÃO SUSTENTAMOS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138928"/>
            <a:ext cx="89885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Monitoramento em tempo real · prova de ineficiência hospitalar · evasão total incluindo outras UFs · internação individual comprovadamente evitável · produto validado por gestores ou impacto comprovado. O projeto não realizou entrevistas, observação de campo, teste de usabilidade ou piloto com usuários reais: utilidade, adoção e impacto seguem como fronteira de evidência futura, declarada no slide de próximos passos.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43600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Regras semânticas transversais: denominador nulo em vez de divisão por zero, ausência preservada como distinta de zero, e classificação separada para amostra insuficiente.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Evidência de 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A2948"/>
                </a:solidFill>
                <a:latin typeface="Aptos"/>
              </a:rPr>
              <a:t>A FlowIA responde dentro da investigação; a tabela do mesmo hospital e competência permite conferir o resultado e continuar a análise.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1773936"/>
            <a:ext cx="29626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FLOWIA AO VIVO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1773936"/>
            <a:ext cx="7690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PERFIL POR ESPECIALIDADE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1920240"/>
            <a:ext cx="2962656" cy="2761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" y="2011680"/>
            <a:ext cx="1922983" cy="260604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950208" y="1920240"/>
            <a:ext cx="7690104" cy="2761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2011680"/>
            <a:ext cx="522122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8640" y="48280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A2948"/>
                </a:solidFill>
                <a:latin typeface="Aptos"/>
              </a:rPr>
              <a:t>Pergunta: o que mais interna nesse hospital?   →   FlowIA: Pediatria, 339 internações   →   Tabela: Pediatria no topo, 339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102352"/>
            <a:ext cx="11091672" cy="122529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2303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O SQL QUE SUSTENTA A RESPOSTA</a:t>
            </a:r>
          </a:p>
        </p:txBody>
      </p:sp>
      <p:pic>
        <p:nvPicPr>
          <p:cNvPr id="35" name="Picture 34" descr="flowia-sql-auditav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183" y="5394960"/>
            <a:ext cx="2115921" cy="9144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206240" y="5266944"/>
            <a:ext cx="7434072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0">
                <a:solidFill>
                  <a:srgbClr val="2D3748"/>
                </a:solidFill>
                <a:latin typeface="Aptos"/>
              </a:rPr>
              <a:t>Um clique em “Ver SQL gerado e validado” abre a consulta que respondeu: um SELECT sobre MART_INDICADOR_HOSPITAL_ESPECIALIDADE_MENSAL, o mesmo mart da Gold que alimenta a tabela ao lado. Verbo de escrita derruba a rodada antes de chegar ao banco, e cada pergunta grava uma linha auditável com o SQL, a narrativa e o que a varredura de vocabulário marcou.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Validação técnica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1316736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Cada etapa que transforma o dado em experiência deixa uma evidência que pode ser conferida.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NÚMERO FIEL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2948"/>
                </a:solidFill>
                <a:latin typeface="Aptos"/>
              </a:rPr>
              <a:t>8.403.103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comparações campo a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0 divergências no método executado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ESTADO EXPLÍCITO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Ausência ≠ zero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erro, amostra e contingência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cada condição aparece com seu próprio rótulo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3296" y="1883664"/>
            <a:ext cx="3547872" cy="2139696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02752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IA GOVERNADA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ptos"/>
              </a:rPr>
              <a:t>SQL visível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somente leitura e auditoria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9DB0C8"/>
                </a:solidFill>
                <a:latin typeface="Aptos"/>
              </a:rPr>
              <a:t>a narrativa nunca substitui a Gold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708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ARQUIVO ORIGINAL  →  GOLD  →  API  →  TELA / FLOWIA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38528" y="4736592"/>
            <a:ext cx="8321040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001768"/>
            <a:ext cx="11091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A validação comprova consistência técnica e rastreabilidade no recorte testado, não causalidade clínica, adoção ou impacto assistencial.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05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8640" y="56967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55648" y="5669280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Reconciliação: comparação automática entre o valor calculado, armazenado e servido. · SQL: linguagem de consulta ao banco. · Snapshot: cópia local identificada de uma resposta válida, usada em contingência.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Gestão do projeto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25/05 a 16/06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Ideação e arquitetura de solução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49808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49808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Entregue · nota 10</a:t>
            </a:r>
            <a:endParaRPr lang="en-US" sz="75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976" y="2121408"/>
            <a:ext cx="137160" cy="1371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392424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593592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17/06 a 15/08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593592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93592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Pipeline, Oracle, ORDS, WebApp e Select AI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593592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3593592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121408"/>
            <a:ext cx="137160" cy="1371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236208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6437376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16/08/2026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6437376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Publicação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437376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Link público servido por api/v1 e v0.2.0 no GitHub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437376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6437376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2121408"/>
            <a:ext cx="137160" cy="1371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79992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3"/>
          <p:cNvSpPr/>
          <p:nvPr/>
        </p:nvSpPr>
        <p:spPr>
          <a:xfrm>
            <a:off x="9281160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01/09/2026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9281160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281160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PPT, vídeo pitch e apresentação final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9281160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7"/>
          <p:cNvSpPr/>
          <p:nvPr/>
        </p:nvSpPr>
        <p:spPr>
          <a:xfrm>
            <a:off x="9281160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Em fechamento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548640" y="3218688"/>
            <a:ext cx="5394960" cy="2395728"/>
          </a:xfrm>
          <a:prstGeom prst="roundRect">
            <a:avLst>
              <a:gd name="adj" fmla="val 2290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9"/>
          <p:cNvSpPr/>
          <p:nvPr/>
        </p:nvSpPr>
        <p:spPr>
          <a:xfrm>
            <a:off x="786384" y="34198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91" y="3524463"/>
            <a:ext cx="193121" cy="193121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298448" y="341985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Práticas adotadas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22960" y="40416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2"/>
          <p:cNvSpPr/>
          <p:nvPr/>
        </p:nvSpPr>
        <p:spPr>
          <a:xfrm>
            <a:off x="1005840" y="39319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Quadro Kanban com frentes por camada da arquitetura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822960" y="4370832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005840" y="4261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Versionamento no GitHub com branches por entrega e pull requests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822960" y="4700016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6"/>
          <p:cNvSpPr/>
          <p:nvPr/>
        </p:nvSpPr>
        <p:spPr>
          <a:xfrm>
            <a:off x="100584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Dossiê de contexto compartilhado, mantendo números coerentes entre entregáveis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822960" y="5029200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38"/>
          <p:cNvSpPr/>
          <p:nvPr/>
        </p:nvSpPr>
        <p:spPr>
          <a:xfrm>
            <a:off x="100584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de dados como critério de pronto de cada camada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822960" y="5358384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0"/>
          <p:cNvSpPr/>
          <p:nvPr/>
        </p:nvSpPr>
        <p:spPr>
          <a:xfrm>
            <a:off x="1005840" y="52486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Encontros ao vivo para integração entre pipeline, banco e frontend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6217920" y="3218688"/>
            <a:ext cx="5422392" cy="2395728"/>
          </a:xfrm>
          <a:prstGeom prst="roundRect">
            <a:avLst>
              <a:gd name="adj" fmla="val 229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2"/>
          <p:cNvSpPr/>
          <p:nvPr/>
        </p:nvSpPr>
        <p:spPr>
          <a:xfrm>
            <a:off x="6473952" y="34198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FEEDBACK DA SPRINT 1  ·  COMO FOI ENDEREÇADO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6473952" y="36941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“O principal ponto de atenção para as próximas etapas é garantir aprofundamento técnico nos diferenciais e prototipação funcional.”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473952" y="4425696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4506529"/>
            <a:ext cx="149230" cy="149230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6876288" y="4389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Aprofundamento técnico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6876288" y="46085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por camada, benchmark com elegibilidade, reconciliação campo a campo e Select AI verificado contra SQL.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6473952" y="5047488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5128321"/>
            <a:ext cx="149230" cy="149230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876288" y="501091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Prototipação funcional</a:t>
            </a:r>
            <a:endParaRPr lang="en-US" sz="1000" dirty="0"/>
          </a:p>
        </p:txBody>
      </p:sp>
      <p:sp>
        <p:nvSpPr>
          <p:cNvPr id="57" name="Text 49"/>
          <p:cNvSpPr/>
          <p:nvPr/>
        </p:nvSpPr>
        <p:spPr>
          <a:xfrm>
            <a:off x="6876288" y="5230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mockup virou produto público navegável: quatro visões e a FlowIA, servidas por onze endpoints reais.</a:t>
            </a:r>
            <a:endParaRPr lang="en-US" sz="850" dirty="0"/>
          </a:p>
        </p:txBody>
      </p:sp>
      <p:sp>
        <p:nvSpPr>
          <p:cNvPr id="58" name="Text 5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9" name="Text 5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07592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O MVP saiu da arquitetura e virou uma investigação pública, navegável e auditável.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1847088"/>
            <a:ext cx="21762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COMO ERA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1847088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COMO FICOU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258568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" y="2231136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Novo cruzamento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87752" y="2231136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71800" y="2231136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Jornada região → hospital → especialidade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" y="2761488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2953512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" y="292608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Número isolado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87752" y="292608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2926080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Histórico, referência e amostra à vista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7552" y="3456432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48640" y="3648456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" y="3621024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Pergunta técnica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87752" y="3621024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71800" y="3621024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FlowIA com contexto e SQL auditável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07024" y="1810512"/>
            <a:ext cx="5733288" cy="33558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593" y="1920240"/>
            <a:ext cx="4938149" cy="313639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48640" y="5047488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1A2948"/>
                </a:solidFill>
                <a:latin typeface="Aptos"/>
              </a:rPr>
              <a:t>O resultado está menos no volume processado e mais na investigação: uma pergunta dispersa vira um percurso que pode ser refeito e conferido.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4681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30 competências · 62 regiões · 655 hospitais · 7,28 milhões de AIHs · 0 divergências na validação executada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769864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8640" y="5861303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5648" y="5833872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AIH: Autorização de Internação Hospitalar, registro administrativo do SUS; uma AIH aprovada nem sempre equivale a uma nova internação. · Competência: mês de referência da publicação.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D3748"/>
                </a:solidFill>
                <a:latin typeface="Aptos"/>
              </a:rPr>
              <a:t>O MVP está validado tecnicamente. O que vem a seguir é o que falta para falar em utilidade, adoção e impacto — e é também o caminho honesto até a previsão.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Validação com usuários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Levar o produto a gestores regionais e medir compreensão, utilidade e tempo até a hipótese. É a evidência que hoje falta para falar em adoção.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15968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53712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47488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Série mais longa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Estender o recorte além das 30 competências e acompanhar a reapresentação retroativa das AIHs, que altera números já publicados.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3296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40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14816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Cobertura e escala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Novas competências a cada publicação do DATASUS, sem intervenção manual, e a abertura do recorte para outras unidades da federação.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657600"/>
            <a:ext cx="11091672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" y="3877056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7AB94"/>
                </a:solidFill>
                <a:latin typeface="Aptos"/>
              </a:rPr>
              <a:t>POR QUE AINDA NÃO PREVEMOS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Prever sobre dado administrativo com reapresentação retroativa produz número bonito e falso: a competência continua mudando depois de publicada.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25696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91456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A comparação sazonal contra dois anos-base e o benchmark entre pares elegíveis respondem à mesma necessidade, sem fingir uma precisão que o dado não tem.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30768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O caminho até a previsão passa por série mais longa e validação com usuários. Está aqui como próximo passo declarado, e não como lacuna.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62356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Nada disso é componente de software: é ampliação de evidência. A arquitetura entregue já sustenta os três caminhos sem reescrita.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4206240"/>
            <a:ext cx="5120640" cy="512064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692640" y="-1737360"/>
            <a:ext cx="4206240" cy="420624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3200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4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65836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MedFlow permite comparar hospitais e regiões entre pares elegíveis, com fórmula, amostra e limite ao lado de cada número. É um MVP público, auditável e tecnicamente reconciliado, que leva o gestor da região ao hospital, do hospital ao diagnóstico e do diagnóstico a uma hipótese documentada. Fizemos questão de delimitar com precisão o que ele prova e o que ainda não prova.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competências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01952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01952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Oracle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55264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55264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08576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08576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visões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61888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61888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casos FlowIA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571232" y="1115568"/>
            <a:ext cx="4069080" cy="3529584"/>
          </a:xfrm>
          <a:prstGeom prst="roundRect">
            <a:avLst>
              <a:gd name="adj" fmla="val 1554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845552" y="1371600"/>
            <a:ext cx="457200" cy="457200"/>
          </a:xfrm>
          <a:prstGeom prst="ellipse">
            <a:avLst/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1490472"/>
            <a:ext cx="219456" cy="21945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845552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Agradecimentos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845552" y="2322576"/>
            <a:ext cx="356616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Oracle, pelo desafio e pelo ambiente Autonomous AI Database que sustentou toda a camada de armazenamento e serving.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FIAP, ao professor tutor e ao scrum master, pela orientação ao longo das duas sprints.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Ao DATASUS, ao Ministério da Saúde e ao IBGE, cujos dados abertos tornaram este projeto possível.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5138928"/>
            <a:ext cx="11091672" cy="9144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48640" y="5303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Equipe Ômega Urban Tech  ·  Turma 1TSCOA  ·  Enterprise Challenge FIAP × Oracle 2026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55961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· RM 571872    |    Leandro Lopes · RM 569353    |    Leandro Scutari · RM 568671    |    Lucas Lima · RM 572207    |    Pedro Padovan · RM 568683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48640" y="59253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Vídeo pitch: youtu.be/Hum7fgOejyI    ·    github.com/Lucas-D-S-1/medflow    ·    lucas-d-s-1.github.io/medflow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5138</Words>
  <Application>Microsoft Office PowerPoint</Application>
  <PresentationFormat>Widescreen</PresentationFormat>
  <Paragraphs>659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x Oracle - Enterprise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MedFlow - Sprint 2 - Evidencias de Construcao</dc:title>
  <dc:subject>Painel Inteligente de Acesso Hospitalar e Perfil de Atendimento</dc:subject>
  <dc:creator>Omega Urban Tech - Turma 1TSCOA</dc:creator>
  <cp:lastModifiedBy>Lucas Lima Santos</cp:lastModifiedBy>
  <cp:revision>8</cp:revision>
  <dcterms:created xsi:type="dcterms:W3CDTF">2026-08-22T16:32:59Z</dcterms:created>
  <dcterms:modified xsi:type="dcterms:W3CDTF">2026-08-31T23:30:19Z</dcterms:modified>
</cp:coreProperties>
</file>